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篇" id="{5e43f440-6b58-ce22-5a08-d487fdbe0d13}">
          <p14:sldIdLst>
            <p14:sldId id="256"/>
            <p14:sldId id="257"/>
          </p14:sldIdLst>
        </p14:section>
        <p14:section name="一、华北平原地下水开采与沉降" id="{0f9d0510-32d7-8920-daf7-71b474b40d6b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二、中国东部省域与沿海沉降" id="{c45fd10c-7cf3-400a-cd0b-658addd5c825}">
          <p14:sldIdLst>
            <p14:sldId id="267"/>
            <p14:sldId id="268"/>
            <p14:sldId id="269"/>
            <p14:sldId id="270"/>
            <p14:sldId id="271"/>
          </p14:sldIdLst>
        </p14:section>
        <p14:section name="三、国家与全球尺度沉降" id="{95bfaa6f-baa5-7239-0e6d-8e2466bd46d9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四、方法拓展：水库区滑坡" id="{a5f29ea1-ecde-fb52-de3d-e1e24e9e4819}">
          <p14:sldIdLst>
            <p14:sldId id="283"/>
            <p14:sldId id="284"/>
            <p14:sldId id="285"/>
          </p14:sldIdLst>
        </p14:section>
        <p14:section name="五、综合讨论" id="{f5bebaba-295b-af3b-9337-0bf50b292cf9}">
          <p14:sldIdLst>
            <p14:sldId id="286"/>
            <p14:sldId id="28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各位老师、同学好。今天我汇报的是最近读的 12 篇关于地表沉降 InSAR 监测的论文。每篇我会按同样的顺序讲：题目和期刊、研究区域、数据、方法，然后是作者自述的创新点、主要结果，最后是作者在文中自己承认的局限和假设。每篇两页，第一页讲“做了什么”，第二页讲“得到了什么、还有什么问题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先用一张表把 12 篇过一遍。按主题我分成四组：第一组是华北平原地下水开采引起的沉降，四篇；第二组是中国东部的江苏全省和鲁苏沿海，两篇；第三组是国家和全球尺度，包括美国、伊朗、爪哇岛、全球三角洲和湄公河，五篇；最后一篇是白鹤滩水库区滑坡，作为方法上的拓展。大部分是 2025、2026 年的新文章，期刊以 RSE 和 IJAEOG 为主，也有 Nature、Science Advances、GRL 和 JGR。数据几乎全部是 Sentinel-1，差别主要在处理方法和分析的侧重点上。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第一部分是华北平原。华北是全国地下水超采和地面沉降最典型的地区，这四篇分别从形变模式聚类、地下水体积损失反演、宽域 InSAR 平差和信号分解预测这四个角度来研究。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第一篇是首都师范大学团队发表在 IJAEOG 2026 年第 147 卷的文章，研究京津冀平原差异性形变模式和对地下水恢复的响应。研究区约 8.8 万平方公里，从山前到东部平原，含水层逐渐变薄、颗粒变细；背景是南水北调中线 2014 年通水后，京津地下水位从 2016 年开始回升。数据用了三条 Sentinel-1A 升轨 2016 到 2024 年的影像，加上 2018 到 2024 年逐月的浅层和深层承压井水位、降水、水准和水资源公报。方法上，先用 IPTA 做时序 InSAR，以水准验证过的 path 142 为参考把三条轨道拼成一张图；然后把每个点的形变拆成年周期的季节项和二次多项式的长期项；再用二次曲线的四个参数做 K-means 聚类；最后用短时傅里叶变换算形变相对水位的滞后，用指数衰减模型刻画长期的延迟压密。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看结果。聚类得到 4 种长期形变模式：稳定或轻微抬升的占 24.91%，末期趋稳的占 46.09%，最严重的两类合计约 29%，位于主要漏斗内。滞后方面，山前稳定区形变比水位晚不到 2 个月，A 井只晚 0.35 个月，几乎同步；而沉降漏斗区要晚 4 到 6 个月。另外有断层的漏斗，低衰减系数集中在边缘；没有断层的保定—石家庄漏斗则集中在中心。作者自述的创新点是：全平原连续形变场、用有物理意义的曲线参数代替原始时序聚类，以及在一个框架里区分年周期滞后和长期延迟。作者自己承认的局限包括：假设水平形变可以忽略；季节项只考虑年周期；区域一致的水位数据只有 2018 到 2024 年；岩性和断层的作用是推断出来的。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第二篇发表在 RSE 2026 年第 333 卷，研究整个华北平原的地下水体积损失。研究区 30 万平方公里、3.39 亿人，分为以弹性变形为主的山前平原、以塑性变形为主的洪积平原和滨海平原。数据是两条升轨共 8 个 frame、1500 景 Sentinel-1A，时间 2017 到 2023 年，另外有 8 个 GNSS 站、1960 年以来的三期水准，以及 472 口承压井的水位。方法分五步：SBAS 求时序；用 13 个重叠区的同名点做宽域网络平差，把 8 个 frame 统一起来；用季节形变振幅除以季节水位振幅求弹性骨架储水系数 Ske；用 InSAR-VSM，也就是基于格林函数的体积应变模型，反演 Zone 1 的地下水损失；最后结合水准和 GNSS 拉出 1960 到 2023 年的长期演变。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结果方面：最快的地方每年下沉超过 15 厘米，六年累计可达 1 米。Zone 1 是一个约 200 乘 500 公里的农业灌溉区，每年损失的地下水体积在 4.346 亿到 8.692 亿立方米之间，区间来自孔隙度取 0.2 还是 0.4；注意这是 Zone 1 的结果，不是全平原。12 口深井去趋势后形变和水位的相关系数都在 0.94 以上，形变只比水位滞后约 2 天。洪积平原的 Ske 大多小于 0.01，作者认为以塑性变形为主。空间上，保定—沧州一线以北沉降趋缓、以南加剧，作者归因于南水北调水量主要分给了京津。作者承认的局限有：水平形变忽略的假设；多层含水层被近似为单层；格林函数假设均质弹性介质；泊松比和孔隙度是经验取值，会直接影响损失量；2 公里网格可能把局部特征平滑掉。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第三篇同样发表在 RSE，2026 年第 334 卷，也是华北平原，但重点在 InSAR 平差方法。研究区约 14 万平方公里，中部和滨海平原上面有咸水层，开采集中在更深的中、早更新统含水层，到 2010 年已经形成 7 万多平方公里的复合降落漏斗。数据是 3 条升轨 11 个 frame、2251 景，时间从 2014 年 10 月到 2022 年底；GNSS 有 20 个 CORS，12 个用来约束、8 个留作独立验证，还有一千多口潜水和承压井。方法的核心是：每个 frame 的长波误差可以选常数、线性、双线性或二次四种模型，用 10 折交叉验证挑出误差最小的组合；同时用欧拉矢量算出构造水平速度，而不是简单假设水平运动为零。最后用沉降量乘面积估算承压含水层的储量损失。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结果：新方法与 8 个独立 GNSS 站比对的误差是 2.0 mm/yr，而所有 frame 统一用一种模型时是 3.8 到 17.5。超过 63% 的面积、约 8.8 万平方公里每年下沉超过 1 厘米，衡水最严重，年均 58.2 毫米，北京只有 6.2。咸水区明显比无咸水区沉降快，咸水区在 2018 年达到峰值，2021 年起开始缓解。承压水储量累计损失 249 亿立方米，81% 发生在 2020 年 12 月以前。作者自述的创新点是逐 frame 自适应选模型，并且通过限制候选模型把组合数从 400 多万降到 6 万多，效率提高 67.4 倍。局限方面，作者明确说 249 亿是下限；中部和滨海平原沉降减缓的原因是推测；交叉验证有额外计算开销；这个方法的前提是 GNSS 稀疏、只有升轨完整覆盖。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第四篇发表在 IJAEOG 2026 年第 146 卷，研究鲁北平原。这里西部的德州、聊城靠深层地下水灌溉，水位降幅超过 100 米；东部东营有卤水开采和胜利油田，所以沉降成因比较复杂。数据是两个 Sentinel-1A 升轨 frame，2018 到 2023 年，配合降水、县区灌溉用水量、观测井水位、土地覆盖、Sentinel-2 影像和 3 个分层标。方法上，先做 SBAS；用 PCA 判断成分个数，前 3 个主成分已经包含 92.02% 的信息，所以分解成 3 个独立成分；ICA 有方向不确定的问题，作者用 NMF 成分的方向来确定 ICA 成分的方向；然后用 CNN-LSTM-Attention 分别预测这 3 个成分，再乘回分解矩阵重构全区沉降；最后在每个成分得分高的区域选井做相关分析来归因。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结果：最快每年下沉 27.5 厘米，沉降中心在东营东北沿海以及聊城、德州部分地区。三个成分分别是：IC1 近线性持续沉降，作者归因于深层承压水超采、卤水和石油开采；IC2 以 2020 年为拐点，与年际降水相关；IC3 是季节周期性的，原方向对应季节灌溉，方向反转后对应降水驱动的地表微形变。预测的测试集 R² 在 0.80 到 0.86 之间，季节性的 IC3 最难预测。作者自述的创新点是：用 NMF 解决 ICA 方向问题，先预测成分再重构、不用逐点预测，以及用 IC3 的方向反转区分灌溉和降水两种驱动。作者承认的局限有：SBAS 的可靠性不如 PS-InSAR；不同压缩层不完全独立，归因要依赖大量后验信息；还没有按埋深和土质细分；预测假设短期趋势不会剧变；观测井是点观测，开采层和监测层可能不一致。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第二部分是中国东部，一篇是 2021 年的江苏全省监测，另一篇是 2026 年覆盖山东、江苏两省沿海的研究，正好可以看出这几年方法上的变化。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第五篇是 2021 年发表在 Remote Sensing 第 13 卷的文章，研究江苏全省。江苏 10.7 万平方公里，80% 以上是平原；到 2000 年苏锡常地区已有 5000 平方公里累计沉降超过 0.2 米。数据是 3 条升轨 6 个 frame 的 Sentinel-1，2015 年底到 2018 年底，验证用了常州、南通、淮安三市的水准点，成因分析还用了 Google Earth 历史影像和 2019 年的野外调查。方法上，作者用中国测绘科学研究院自研的 GDEMSI 软件做多主影像相干目标小基线 InSAR；配准分三级，最后用 ESD 达到千分之一像元；剔除受强对流层影响的 6 到 9 月干涉图；假设只有垂向形变，把 6 个 frame 平差拼接；最后对五个重点沉降区结合时序、历史影像和野外调查推断成因。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结果：全省得到约 928 万个相干点，其中约 82% 每年变化不到正负 5 毫米，基本稳定。和 527 个水准点比对，误差标准差 3.9 mm/yr。最快的是连云港新填海码头，每年下沉 21.5 厘米，作者归因于新填土固结。作者把成因归纳为三类：填海区和苏州吴江新建区是软土固结；丰县城区和南通紫菜养殖区是地下水开采；徐州煤矿是地下采矿，首个相干期累计形变达 670 毫米。作者自述这是在中国用 Sentinel-1 做大范围形变制图的首例应用。作者承认的局限包括：采矿区农田几乎没有相干点，沉降量被低估；抬升区的原因还不清楚；夏季干涉图被剔除；各市水准点的密度和频次不一；盐城 C 区现场没有找到抽水证据，地下水开采只是可能原因。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第六篇发表在 IJAEOG 2026 年第 146 卷，研究山东、江苏两省沿海，范围是海岸线向陆 100 公里的缓冲带。山东黄河三角洲平均高程不到 10 米，两省海岸线合计四千多公里。数据是 7 条轨道 16 个 frame、2486 景 Sentinel-1，2017 到 2023 年，主要是 1A 升轨；另有 9 个 GNSS 连续站、2018 到 2021 年的地下水位和 Sentinel-2 影像。方法上用 ISCE 加 MintPy 做 90 米分辨率的 SBAS；根据升降轨结果判断水平形变不显著，把 LOS 转为垂向；针对海陆过渡带，作者提出了新的多 frame 拼接方法，用无控制区域网平差，以重叠区的近似众数作为观测值；最后用 PCA 描述时序模式，再结合 Sentinel-2 解译、野外调查和井周 300 米的对比分析驱动因素。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结果：每年下沉超过 2 厘米的面积有 23,653 平方公里，占研究带的 15.6%；最快每年下沉 34.4 厘米，在黄河三角洲的东营；和 9 个 GNSS 站比对误差 1.3 mm/yr。四个典型区成因各不相同：东营是制盐和养殖抽卤水；广饶是卤水和深层地下水开采；龙口港—裕龙岛是填海和工业荷载固结；盐城王港河是温室对虾养殖抽水，2022 到 2023 年最大达到每年 630 毫米。作者认为显著沉降主要来自地下资源开采，而且每个区主要受单一因素控制。创新点是沿海多 frame 拼接方法，以及首次发现两省沿海多个超过 50 mm/yr 的快速沉降漏斗。作者承认的局限有：GNSS 比对用最近像元，对噪声敏感；失相干区有解缠误差；水位只覆盖 2018 到 2021 年且有缺测；PCA 主成分数不等于驱动因素数；只有部分区域有升降轨。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第三部分是国家和全球尺度，五篇分别研究美国本土、伊朗全国、爪哇岛、全球 40 个三角洲和湄公河三角洲，关注点从沉降制图延伸到暴露人口、相对海平面上升和含水层是否还能恢复。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第七篇发表在 RSE 2026 年第 333 卷，做的是美国本土 48 个州加哥伦比亚特区的全国沉降制图。以往美国的 InSAR 研究多是局部或区域尺度。数据量很大：28 条升轨、23,391 景、321 个 frame，2019 到 2021 年，原始数据约 87 TB；验证用 4242 个 GNSS 站。沉降区识别网络用中国 8 个省的 InSAR 速率图训练，约两万个样本。方法上，第一步是自适应的高程相关大气改正，分块拟合，只改正受影响的像元，避免把平坦区的形变一起去掉；第二步是迭代 Stacking 求速率；第三步用区域网平差拼接 321 个 frame，结果保留在 LOS 方向；第四步用基于 U-Net 加注意力机制的 DeforNet 自动识别沉降区；最后叠加人口、建筑、道路做暴露和风险分析。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结果：美国本土正在下沉的面积约 45,666 平方公里，62.5% 在加州；所有 48 个州和 DC 都有沉降，最大 LOS 速率 47.5 cm/yr，在中央谷地。沉降区里 73% 是耕地，灌溉耕地只占耕地面积 24%，却贡献了耕地沉降的 67%；91% 的沉降区位于含水层范围内，作者认为地下水超采是主要驱动。暴露人口约 626 万，96% 在加州，另有 16 万多座建筑受影响。和 GNSS 比对的误差是 5.2 mm/yr。作者自述这是美国本土首张高分辨率全国沉降图。作者承认的局限有：用的是局部参考点，构造和冰川均衡调整的长波信号没有保留；时序只在部分区域计算；沉降区范围很可能被低估；角变形只基于约 3 年观测；案例分析不确立因果。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第八篇发表在 JGR Solid Earth 2025 年第 130 卷，研究伊朗全国。伊朗约 60% 的供水来自地下水，其中 90% 用于农业；人口最多的 10 个城市里有 7 个靠近沉降区。作者选出 106 个快速沉降区，条件是每年超过 10 毫米、面积超过 4 平方公里且有人类活动。数据是 COMET-LiCS 提供的 Sentinel-1 升降轨干涉图，2014 年底到 2022 年底；ICA 用的是 59 个 frame 的 1 公里时序。方法上，用 LiCSBAS 求时序，升降轨联合分解出垂向和东西向速度；用角变形，也就是差异沉降的坡度，乘以人口密度评估风险；再对时序做时间域的 FastICA，把非弹性和弹性成分分开，算出两者的比例。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结果：每年下沉超过 1 厘米的面积 31,400 平方公里，占国土 1.9%，约 77% 在农田。最快的 Rafsanjan 每年下沉约 34 厘米，2016 到 2021 年视线向的非弹性压实约 1.3 米。全国约 5.15 万人暴露在高角变形区，卡拉季超过 2.36 万人。59 个 frame 都识别出了非弹性成分。最关键的是德黑兰：弹性和非弹性形变的比例从 2017–18 年的 41% 到 44%，降到 2019–21 年的 31% 到 36%，说明含水层越来越难回弹，这也是题目里“不可恢复”的含义。作者自述的创新点包括首次给出伊朗沉降区的垂向和东西向速度，以及首次在近全国尺度做 InSAR 时序 ICA。作者承认的局限：缺少井数据，只能用降水作为识别弹性成分的参照；残余的地形相关大气会混进 ICA 的季节成分；东西向噪声可达约 10 mm/yr；风险以人口为代理，不包括无人居住的基础设施；盐地抬升的机理还是假说。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第九篇发表在 Science Advances 2026 年第 12 卷，研究印尼爪哇岛的沉降以及它对相对海平面上升的贡献。爪哇约 1.5 亿人，北岸是一条约 1500 公里长的低洼经济走廊，爪哇海从 2000 年以来海平面每年上升约 5 到 6 毫米，而且印尼在 IPCC AR6 用的验潮站里缺乏代表。数据是约 4000 景 Sentinel-1，10 个升轨加 11 个降轨 frame，2017 到 2023 年；GNSS 28 个站；还用了 2007 到 2010 年的 ALOS-1 结果做长期对比，以及卫星测高和 FACTS 海平面投影。方法上：WabInSAR 处理并分解垂向和东西向；用二次多项式判断沉降在加速还是减速；再用 PCA、k-means、DBSCAN、DTW 组合的混合聚类找出时间模式并做事后归因；最后沿北岸每 5 公里设一个“虚拟验潮站”，把测高和地面沉降叠加，算出相对海平面变化并投影到 2050 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结果：多个沿海城市每年下沉 1 到 15 厘米。2017 到 2023 年，17% 的沉降区在加速、45% 在减速；和 ALOS-1 时期比，13% 由中等沉降变成快速沉降，22% 减缓。聚类得到 6 组时间模式，分别对应沿海冲积层、三角洲、住宅区、工业区、农业区和泥火山。当前相对海平面上升均值 1.7 cm/yr；到 2050 年，超过 75% 的北岸海岸段仍以地面下沉为主因，贡献 27% 到 85%，超过冰川、冰盖等因素。InSAR 和 26 个 GNSS 站相关系数 0.83 到 0.96。作者承认的局限：地下水、压实和构造的贡献无法完全区分；虚拟验潮站假设沉降速率不变，可能低估相对海平面上升；近岸测高不确定性大；投影假设沉降平稳；验证用的 GNSS 里包含了定参考框架的站。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第十篇是发表在 Nature 2026 年第 649 卷的全球三角洲沉降研究。作者从全球 955 个三角洲中，按低于海平面的面积和人口暴露选了 35 个，又补了 5 个区域重要的，共 40 个，分布在 5 大洲 29 个国家，亚洲最多，17 个。数据是 132 个 frame 的 Sentinel-1，2016 到 2023 年；GNSS 用于统一到 IGS14 框架并验证；驱动因素用了 GRACE 地下水储量、沉积物通量变化和城市扩张；还有验潮站、测高、IPCC AR6 海平面投影和适应能力指数 ND-GAIN。方法上，用 WabInSAR 得到 75 米分辨率速率，27 个三角洲用升降轨分解垂向；驱动分析用随机森林加 LIME 局部解释；最后把沉降与海平面上升直接比较，并按相对海平面上升和适应能力划成四个象限。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结果：40 个三角洲平均都在下沉，其中 18 个的下沉速度快于当地海平面上升，也就是说对它们来说，地面下沉比海水上涨更要紧。正在下沉的三角洲面积共 46 万平方公里，约占全球可居住三角洲面积的 54% 到 65%。驱动方面，随机森林 R² 为 0.6，LIME 显示地下水的贡献最大，约 0.6。按 SSP2-4.5 情景，到本世纪末 40 个三角洲当前的最大沉降速率都超过投影的海平面上升。另外 26 个三角洲属于相对海平面上升快、但应对准备不足的“Unprepared Divers”。作者承认的局限：GRACE 分辨率只有 300 到 400 公里，存在信号泄漏；沉积物通量只是相对变化；没有分离压实、构造、油气开采等过程；随机森林依赖样本组成，40 个三角洲不具全球代表性；单轨三角洲“以垂向为主”的假设，作者自己也说是站不太住的。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第十一篇发表在 GRL 2025 年第 52 卷，研究越南湄公河三角洲的干旱诱发沉降。研究区在 Hau 河西南侧，平均高程只有约 0.8 米，2016 和 2020 年是最极端的干旱年。作者把区域分成三类地表水管理区：一类是靠水闸挡咸的淡水区，二类是雨养淡水区，三类是咸水或半咸水区。数据是 2017 到 2022 年降轨的 PS-InSAR 时序、KBDI 干旱指数和 ERA5-Land 降水，以及土地利用分类。方法上，先按 1 公里网格取中位数时序并低通滤波；用分段线性模型去掉长期背景沉降；然后用降水对季节位移做线性回归，参数只用干旱前的正常时段估计；最后比较干旱前、中、后三个时段的预测效果，看系统是否偏离了常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结果：2020 年大旱几个月内，南部雨养区最多下沉 7 厘米，受影响范围和二类管理区的边界吻合。雨养区旱季沉降中位数 23 毫米，而淡水区只有 7 毫米、咸水区 8 毫米。淡水区和咸水区的沉降在之后的雨季基本回弹了，但雨养区回弹不足，永久下降最多 3.5 厘米；干旱后降水更多却没有抬升，作者据此认为这是不可恢复的非弹性变形。用降水回归也解释不了大部分下降。作者自述的创新点是揭示了一个以前未知的沉降驱动因素，也就是严重干旱。作者承认的局限：PS 点多在建筑上，可能包含荷载沉降；无法区分干旱期开采增加和土壤收缩各自的贡献；无法分离弹性和非弹性的比例；需要开采量、水头、土壤含水量数据和更长的时序。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最后一篇不是地面沉降，而是水库区滑坡。我放进来是因为它把 InSAR 形变和机器学习易发性结合的思路，对我们做沉降归因和风险评估也有参考价值。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最后一篇发表在 RSE 2026 年第 341 卷，研究对象是白鹤滩水库区的潜在滑坡。研究区在青藏高原东南缘的金沙江 V 形河谷，2021 年 4 月开始蓄水，水位在 765 到 825 米之间波动，形成宽阔的消落带。数据是升轨和降轨 Sentinel-1，2020 到 2023 年；74 处滑坡编目，其中 59 处建模、15 处独立验证；12 个孕灾因子；以及无人机、LiDAR 和 GNSS 用于验证。方法上：SBAS 后用升降轨分解出垂直和东西向形变；在选非滑坡负样本时，比较了用 InSAR 筛稳定区和用信息量法筛低易发区两种做法；用决策树、随机森林、GBDT 建易发性模型；然后用一个列联矩阵，把易发性等级和形变等级结合起来圈定潜在滑坡区；最后用 SHAP 解释各因子的作用。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结果：6 个模型中最好的是用信息量法选负样本的随机森林，AUC 0.866，比用 InSAR 选负样本高 0.052。列联矩阵法圈出的区域与已核实滑坡的重叠面积是 7.29 平方公里，是传统阈值法 1.76 的四倍多；74 处已知滑坡识别出 67 处，召回率 90.5%，阈值法只有 44 处。它还能把施工开挖这类“低易发、高形变”的人为形变排除掉。二维分解显示局部最大垂直沉降每年 93 毫米。SHAP 显示离河距离最重要，500 米以内贡献最高，作者认为这代表了消落带的作用。作者承认的局限：优化采样引入了空间先验，可能导致边界过拟合；InSAR 采样受阴影和叠掩影响；SHAP 只反映固定时段；30 米格网和 C 波段可能漏掉小滑坡；能否推广到其他水库区还有待检验。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最后做个横向对比，这一页是我根据各篇笔记归纳的，不是论文原话。第一，大范围研究都绕不开多轨、多 frame 拼接，①②③⑥⑦ 都提出了自己的平差或拼接方案。第二，LOS 转垂向的处理不同：有几篇直接假设水平形变可以忽略，③ 用板块运动模型修正，伊朗、爪哇和全球三角洲那篇用升降轨分解。第三，驱动归因上，地下水开采在大多数研究里被认为是主因，江苏和鲁苏沿海还有软土固结、填海荷载、卤水和采矿，湄公河那篇则指向干旱。第四，弹性和非弹性形变的区分是一个共同关注点，而且不少研究的地下水位数据比 InSAR 时序短，这是归因时普遍面临的限制。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以上就是这 12 篇论文的汇报，谢谢大家，欢迎老师和同学们提问和指正。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2377440" y="2286000"/>
            <a:ext cx="9144000" cy="10058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2377440" y="3429000"/>
            <a:ext cx="9144000" cy="73152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地表沉降 InSAR 文献组会汇报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地表沉降 InSAR 研究文献汇报</a:t>
            </a:r>
            <a:endParaRPr lang="en-US" sz="4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12 篇论文总览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457200" y="1005840"/>
          <a:ext cx="11274552" cy="4992624"/>
        </p:xfrm>
        <a:graphic>
          <a:graphicData uri="http://schemas.openxmlformats.org/drawingml/2006/table">
            <a:tbl>
              <a:tblPr/>
              <a:tblGrid>
                <a:gridCol w="411480"/>
                <a:gridCol w="2514600"/>
                <a:gridCol w="1463040"/>
                <a:gridCol w="594360"/>
                <a:gridCol w="2011680"/>
                <a:gridCol w="2377440"/>
                <a:gridCol w="1901952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研究（简称）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期刊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年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研究区域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SAR 数据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核心方法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①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京津冀平原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IJAEOG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2026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京津冀平原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S1A 升轨 3 轨，2016–2024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特征约束 K-means + STFT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②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华北平原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RSE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2026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华北平原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S1A 升轨 8 frame，2017–2023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宽域网络平差 + InSAR-VSM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③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华北平原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RSE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2026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华北平原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 升轨 11 frame，2014–2022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K 折交叉验证选误差模型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④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鲁北平原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IJAEOG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2026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鲁北平原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S1A 升轨 2 frame，2018–2023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NMF-ICA + CNN-LSTM-Attention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⑤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江苏全省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Remote Sens.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2021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江苏全省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 升轨 6 frame，2015–2018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MCTSB-InSAR + 野外调查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⑥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中国东部沿海（鲁、苏）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IJAEOG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2026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山东、江苏沿海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 7 轨 16 frame，2017–2023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沿海多 frame 拼接 + PCA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⑦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美国本土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RSE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2026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美国本土 48 州 + DC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 升轨 321 frame，2019–2021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自适应 EDAD + DeforNet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⑧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伊朗全国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JGR Solid Earth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2025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伊朗全国（106 个沉降区）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 升降轨 LiCS，2014–2022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速度分解 + 时间域 ICA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⑨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爪哇岛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Sci. Adv.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2026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印尼爪哇岛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 升降轨 21 frame，2017–2023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混合聚类 + 虚拟验潮站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⑩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全球 40 个河流三角洲沉降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2026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全球 40 个三角洲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S1 132 frame，2016–2023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WabInSAR + RF/LIME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⑪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湄公河三角洲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GRL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2025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越南湄公河三角洲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 降轨 PS，2017–2022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分段线性 + 降水回归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⑫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白鹤滩水库区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RSE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2026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白鹤滩水库区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S1 升降轨，2020–2023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IVM 负样本 + RF + 列联矩阵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2377440" y="22860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一、华北平原地下水开采与沉降</a:t>
            </a:r>
            <a:endParaRPr lang="en-US" sz="3600" dirty="0"/>
          </a:p>
        </p:txBody>
      </p:sp>
      <p:sp>
        <p:nvSpPr>
          <p:cNvPr id="4" name="Text 0"/>
          <p:cNvSpPr/>
          <p:nvPr>
            <p:ph type="body" idx="101" hasCustomPrompt="1"/>
          </p:nvPr>
        </p:nvSpPr>
        <p:spPr>
          <a:xfrm>
            <a:off x="2377440" y="34290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京津冀 · 华北平原 · 鲁北平原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1188720" cy="11887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517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4343400"/>
            <a:ext cx="91440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①  京津冀平原：TS-InSAR 重建聚类与地下水恢复响应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②  华北平原：宽域 InSAR 与地下水体积损失反演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③  华北平原：机器学习 InSAR 平差与承压水储量损失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④  鲁北平原：NMF 辅助 ICA 分解归因 + 深度学习预测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① 京津冀平原：TS-InSAR 重建聚类与地下水恢复响应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概况 1/2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058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Differential land deformation patterns and response mechanism to groundwater recovery in the Beijing-Tianjin-Hebei Plain revealed by reconstructing and clustering of TS-InSAR observations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期刊  </a:t>
            </a:r>
            <a:r>
              <a:rPr lang="en-US" sz="1300" b="1" dirty="0">
                <a:solidFill>
                  <a:schemeClr val="tx2"/>
                </a:solidFill>
              </a:rPr>
              <a:t>International Journal of Applied Earth Observation and Geoinformation · 147, 105196 · 2026</a:t>
            </a:r>
            <a:endParaRPr lang="en-US" sz="1200" dirty="0"/>
          </a:p>
        </p:txBody>
      </p:sp>
      <p:sp>
        <p:nvSpPr>
          <p:cNvPr id="9" name="card-研究区域"/>
          <p:cNvSpPr/>
          <p:nvPr/>
        </p:nvSpPr>
        <p:spPr>
          <a:xfrm>
            <a:off x="45720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16712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研究区域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65176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京津冀平原（京、津、冀平原区），约 87,836.67 km²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山前→中部→东部平原：含水层变薄、粒度变细、渗透性变差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南水北调中线 2014 年通水；京津地下水位 2016 年起回升</a:t>
            </a:r>
            <a:endParaRPr lang="en-US" sz="1400" dirty="0"/>
          </a:p>
        </p:txBody>
      </p:sp>
      <p:sp>
        <p:nvSpPr>
          <p:cNvPr id="14" name="card-研究数据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23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416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研究数据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Sentinel-1A 升轨：</a:t>
            </a:r>
            <a:r>
              <a:rPr lang="en-US" sz="1400" dirty="0">
                <a:solidFill>
                  <a:schemeClr val="tx1"/>
                </a:solidFill>
              </a:rPr>
              <a:t>path 40/142/69，2016-01～2024-12，154/147/122 景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地下水位：</a:t>
            </a:r>
            <a:r>
              <a:rPr lang="en-US" sz="1400" dirty="0">
                <a:solidFill>
                  <a:schemeClr val="tx1"/>
                </a:solidFill>
              </a:rPr>
              <a:t>2018–2024 逐月；浅层（120–210 m）/深层（250–310 m）承压井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辅助：</a:t>
            </a:r>
            <a:r>
              <a:rPr lang="en-US" sz="1400" dirty="0">
                <a:solidFill>
                  <a:schemeClr val="tx1"/>
                </a:solidFill>
              </a:rPr>
              <a:t>ERA5-Land 降水、SRTM 30 m、三期水准、2008–2024 水资源公报</a:t>
            </a:r>
            <a:endParaRPr lang="en-US" sz="1400" dirty="0"/>
          </a:p>
        </p:txBody>
      </p:sp>
      <p:sp>
        <p:nvSpPr>
          <p:cNvPr id="19" name="card-研究方法"/>
          <p:cNvSpPr/>
          <p:nvPr/>
        </p:nvSpPr>
        <p:spPr>
          <a:xfrm>
            <a:off x="6217920" y="201168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49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研究方法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2651760"/>
            <a:ext cx="514807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IPTA 时序 InSAR：</a:t>
            </a:r>
            <a:r>
              <a:rPr lang="en-US" sz="1500" dirty="0">
                <a:solidFill>
                  <a:schemeClr val="tx1"/>
                </a:solidFill>
              </a:rPr>
              <a:t>三条轨道分别处理，SVD 求时序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轨间校正拼接：</a:t>
            </a:r>
            <a:r>
              <a:rPr lang="en-US" sz="1500" dirty="0">
                <a:solidFill>
                  <a:schemeClr val="tx1"/>
                </a:solidFill>
              </a:rPr>
              <a:t>以水准验证的 path 142 为参考，同名像元垂向差中位数逐月改正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形变重建：</a:t>
            </a:r>
            <a:r>
              <a:rPr lang="en-US" sz="1500" dirty="0">
                <a:solidFill>
                  <a:schemeClr val="tx1"/>
                </a:solidFill>
              </a:rPr>
              <a:t>季节项＝年周期谐波；长期项＝二次多项式，派生 t_vertex、slope_end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特征约束 K-means：</a:t>
            </a:r>
            <a:r>
              <a:rPr lang="en-US" sz="1500" dirty="0">
                <a:solidFill>
                  <a:schemeClr val="tx1"/>
                </a:solidFill>
              </a:rPr>
              <a:t>(a, b, t_vertex, slope_end) 四维特征，肘部法 K=4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响应分析：</a:t>
            </a:r>
            <a:r>
              <a:rPr lang="en-US" sz="1500" dirty="0">
                <a:solidFill>
                  <a:schemeClr val="tx1"/>
                </a:solidFill>
              </a:rPr>
              <a:t>STFT 求年周期滞后；指数衰减系数 K 刻画长期延迟压密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① 京津冀平原：TS-InSAR 重建聚类与地下水恢复响应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 2/2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7" name="Text 4"/>
          <p:cNvSpPr txBox="1"/>
          <p:nvPr/>
        </p:nvSpPr>
        <p:spPr>
          <a:xfrm>
            <a:off x="658368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K = 4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京津冀平原的长期形变被分成 4 种模式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稳定区 24.91%、趋稳区 46.09%、严重沉降区 18.86% + 10.14%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9" name="Text 6"/>
          <p:cNvSpPr txBox="1"/>
          <p:nvPr/>
        </p:nvSpPr>
        <p:spPr>
          <a:xfrm>
            <a:off x="4507992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&lt; 2 个月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山前稳定区：地面形变比地下水位晚不到 2 个月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A 井只晚 0.35 个月，几乎同步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11" name="Text 8"/>
          <p:cNvSpPr txBox="1"/>
          <p:nvPr/>
        </p:nvSpPr>
        <p:spPr>
          <a:xfrm>
            <a:off x="8357616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4–6 个月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沉降漏斗区：地面形变比地下水位晚 4–6 个月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比山前区慢得多</a:t>
            </a:r>
            <a:endParaRPr lang="en-US" sz="2400" dirty="0"/>
          </a:p>
        </p:txBody>
      </p:sp>
      <p:sp>
        <p:nvSpPr>
          <p:cNvPr id="12" name="card-创新点（作者自述）"/>
          <p:cNvSpPr/>
          <p:nvPr/>
        </p:nvSpPr>
        <p:spPr>
          <a:xfrm>
            <a:off x="457200" y="27432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</p:spPr>
      </p:sp>
      <p:sp>
        <p:nvSpPr>
          <p:cNvPr id="13" name="Shape 10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98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创新点（作者自述）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9260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三轨形变场校正拼接为覆盖整个京津冀平原的连续形变场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用有物理意义的二次曲线参数代替原始时序聚类，减少噪声、增强可解释性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同一框架区分“年周期滞后”与“长期延迟响应”</a:t>
            </a:r>
            <a:endParaRPr lang="en-US" sz="1600" dirty="0"/>
          </a:p>
        </p:txBody>
      </p:sp>
      <p:sp>
        <p:nvSpPr>
          <p:cNvPr id="17" name="card-研究结果"/>
          <p:cNvSpPr/>
          <p:nvPr/>
        </p:nvSpPr>
        <p:spPr>
          <a:xfrm>
            <a:off x="4023360" y="2743200"/>
            <a:ext cx="4325112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</p:spPr>
      </p:sp>
      <p:sp>
        <p:nvSpPr>
          <p:cNvPr id="18" name="Shape 14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9809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89864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研究结果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3383280"/>
            <a:ext cx="3959352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速率 0.1–99.9% 分位区间：−112.1～28.0（2016–18）收窄为 −98.4～26.5 mm/yr（2018–24）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cluster-1～4 占比 24.91% / 46.09% / 18.86% / 10.14%，后两类沉降最严重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STFT 共振周期 12–36 个月，作者认为属累积响应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有断层的漏斗低 K 集中在边缘；无断层的保定—石家庄漏斗集中在中心</a:t>
            </a:r>
            <a:endParaRPr lang="en-US" sz="1600" dirty="0"/>
          </a:p>
        </p:txBody>
      </p:sp>
      <p:sp>
        <p:nvSpPr>
          <p:cNvPr id="22" name="card-局限 / 假设（作者承认）"/>
          <p:cNvSpPr/>
          <p:nvPr/>
        </p:nvSpPr>
        <p:spPr>
          <a:xfrm>
            <a:off x="8622792" y="274320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2"/>
          </a:solidFill>
        </p:spPr>
      </p:sp>
      <p:sp>
        <p:nvSpPr>
          <p:cNvPr id="23" name="Shape 18"/>
          <p:cNvSpPr/>
          <p:nvPr/>
        </p:nvSpPr>
        <p:spPr>
          <a:xfrm>
            <a:off x="8805672" y="289864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980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8592" y="28986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局限 / 假设（作者承认）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805672" y="3383280"/>
            <a:ext cx="274320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假设水平形变可忽略，LOS 直接转垂向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季节项只考虑年周期分量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区域一致的水位数据只有 2018–2024 年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极端水文事件、突发抽水等短期信号留在残差中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岩性、断层的作用为推断（“may be related to”）</a:t>
            </a:r>
            <a:endParaRPr lang="en-US" sz="1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② 华北平原：宽域 InSAR 与地下水体积损失反演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概况 1/2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058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Groundwater volume loss and land subsidence in the North China plain investigated using wide-area InSAR surveying and mechanical modeling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期刊  </a:t>
            </a:r>
            <a:r>
              <a:rPr lang="en-US" sz="1300" b="1" dirty="0">
                <a:solidFill>
                  <a:schemeClr val="tx2"/>
                </a:solidFill>
              </a:rPr>
              <a:t>Remote Sensing of Environment · 333, 115164 · 2026</a:t>
            </a:r>
            <a:endParaRPr lang="en-US" sz="1200" dirty="0"/>
          </a:p>
        </p:txBody>
      </p:sp>
      <p:sp>
        <p:nvSpPr>
          <p:cNvPr id="9" name="card-研究区域"/>
          <p:cNvSpPr/>
          <p:nvPr/>
        </p:nvSpPr>
        <p:spPr>
          <a:xfrm>
            <a:off x="45720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16712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研究区域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65176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华北平原（京津冀鲁豫），300,000 km²，人口 3.39 亿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山前平原（弹性为主）、洪积平原（塑性为主）、滨海平原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1971–2015 年沉降漏斗面积超过 48,500 km²</a:t>
            </a:r>
            <a:endParaRPr lang="en-US" sz="1400" dirty="0"/>
          </a:p>
        </p:txBody>
      </p:sp>
      <p:sp>
        <p:nvSpPr>
          <p:cNvPr id="14" name="card-研究数据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23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416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研究数据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Sentinel-1A 升轨：</a:t>
            </a:r>
            <a:r>
              <a:rPr lang="en-US" sz="1400" dirty="0">
                <a:solidFill>
                  <a:schemeClr val="tx1"/>
                </a:solidFill>
              </a:rPr>
              <a:t>T40/T142 共 8 个 frame、1500 景，2017-05～2023-09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地面观测：</a:t>
            </a:r>
            <a:r>
              <a:rPr lang="en-US" sz="1400" dirty="0">
                <a:solidFill>
                  <a:schemeClr val="tx1"/>
                </a:solidFill>
              </a:rPr>
              <a:t>GNSS 8 站；三期二等水准（1960–2010）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地下水位：</a:t>
            </a:r>
            <a:r>
              <a:rPr lang="en-US" sz="1400" dirty="0">
                <a:solidFill>
                  <a:schemeClr val="tx1"/>
                </a:solidFill>
              </a:rPr>
              <a:t>472 口承压井（250–400 m），2018–2023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其他：</a:t>
            </a:r>
            <a:r>
              <a:rPr lang="en-US" sz="1400" dirty="0">
                <a:solidFill>
                  <a:schemeClr val="tx1"/>
                </a:solidFill>
              </a:rPr>
              <a:t>南水北调分配数据、断层、地质图</a:t>
            </a:r>
            <a:endParaRPr lang="en-US" sz="1400" dirty="0"/>
          </a:p>
        </p:txBody>
      </p:sp>
      <p:sp>
        <p:nvSpPr>
          <p:cNvPr id="19" name="card-研究方法"/>
          <p:cNvSpPr/>
          <p:nvPr/>
        </p:nvSpPr>
        <p:spPr>
          <a:xfrm>
            <a:off x="6217920" y="201168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49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研究方法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2651760"/>
            <a:ext cx="514807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SBAS-InSAR：</a:t>
            </a:r>
            <a:r>
              <a:rPr lang="en-US" sz="1500" dirty="0">
                <a:solidFill>
                  <a:schemeClr val="tx1"/>
                </a:solidFill>
              </a:rPr>
              <a:t>GAMMA 干涉 + 自编 MATLAB 时序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宽域网络平差：</a:t>
            </a:r>
            <a:r>
              <a:rPr lang="en-US" sz="1500" dirty="0">
                <a:solidFill>
                  <a:schemeClr val="tx1"/>
                </a:solidFill>
              </a:rPr>
              <a:t>13 个重叠区同名点（相干 &gt;0.85），伪逆求各 frame 改正量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含水层参数：</a:t>
            </a:r>
            <a:r>
              <a:rPr lang="en-US" sz="1500" dirty="0">
                <a:solidFill>
                  <a:schemeClr val="tx1"/>
                </a:solidFill>
              </a:rPr>
              <a:t>Ske＝季节形变振幅 / 季节水位振幅；交叉小波相位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InSAR-VSM：</a:t>
            </a:r>
            <a:r>
              <a:rPr lang="en-US" sz="1500" dirty="0">
                <a:solidFill>
                  <a:schemeClr val="tx1"/>
                </a:solidFill>
              </a:rPr>
              <a:t>弹性半空间格林函数反演 Zone 1 体积应变（2 km 单元）→ 地下水储量损失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长期演变：</a:t>
            </a:r>
            <a:r>
              <a:rPr lang="en-US" sz="1500" dirty="0">
                <a:solidFill>
                  <a:schemeClr val="tx1"/>
                </a:solidFill>
              </a:rPr>
              <a:t>水准 + GNSS + InSAR 构建 1960–2023 年序列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② 华北平原：宽域 InSAR 与地下水体积损失反演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 2/2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7" name="Text 4"/>
          <p:cNvSpPr txBox="1"/>
          <p:nvPr/>
        </p:nvSpPr>
        <p:spPr>
          <a:xfrm>
            <a:off x="658368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&gt; −150 mm/yr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最快的地方每年下沉超过 15 cm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六年累计沉降可达 1 m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9" name="Text 6"/>
          <p:cNvSpPr txBox="1"/>
          <p:nvPr/>
        </p:nvSpPr>
        <p:spPr>
          <a:xfrm>
            <a:off x="4507992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4.346–8.692 亿 m³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Zone 1（主要农业灌溉区）每年损失的地下水体积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区间来自孔隙度取 0.2～0.4；只算了 Zone 1，不是全平原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11" name="Text 8"/>
          <p:cNvSpPr txBox="1"/>
          <p:nvPr/>
        </p:nvSpPr>
        <p:spPr>
          <a:xfrm>
            <a:off x="8357616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≥ 0.94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12 口深井：去掉长期趋势后，形变与水位的相关系数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形变几乎跟着水位走，滞后约 2 天</a:t>
            </a:r>
            <a:endParaRPr lang="en-US" sz="2400" dirty="0"/>
          </a:p>
        </p:txBody>
      </p:sp>
      <p:sp>
        <p:nvSpPr>
          <p:cNvPr id="12" name="card-创新点（作者自述）"/>
          <p:cNvSpPr/>
          <p:nvPr/>
        </p:nvSpPr>
        <p:spPr>
          <a:xfrm>
            <a:off x="457200" y="27432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</p:spPr>
      </p:sp>
      <p:sp>
        <p:nvSpPr>
          <p:cNvPr id="13" name="Shape 10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98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创新点（作者自述）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9260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首次以高分辨率全面量化全华北平原地下水储量损失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宽域网络平差得到全平原无缝毫米级形变时序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InSAR-VSM 反演模型，首个 2 km 分辨率 GWSL 数据集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近年形变置于 63 年背景中讨论</a:t>
            </a:r>
            <a:endParaRPr lang="en-US" sz="1600" dirty="0"/>
          </a:p>
        </p:txBody>
      </p:sp>
      <p:sp>
        <p:nvSpPr>
          <p:cNvPr id="17" name="card-研究结果"/>
          <p:cNvSpPr/>
          <p:nvPr/>
        </p:nvSpPr>
        <p:spPr>
          <a:xfrm>
            <a:off x="4023360" y="2743200"/>
            <a:ext cx="4325112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</p:spPr>
      </p:sp>
      <p:sp>
        <p:nvSpPr>
          <p:cNvPr id="18" name="Shape 14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9809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89864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研究结果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3383280"/>
            <a:ext cx="3959352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六年累计沉降可达 1 m；Zone 1 为约 200×500 km 农业灌溉区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平差后轨间差异：双峰（均值 −4.3）→ 单峰（−2.1 mm/yr）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洪积平原 Ske 主要 &lt;0.01，塑性变形主导；形变滞后水位约 2 天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保定—沧州以北趋缓、以南加剧，作者归因于南水北调分配差异</a:t>
            </a:r>
            <a:endParaRPr lang="en-US" sz="1600" dirty="0"/>
          </a:p>
        </p:txBody>
      </p:sp>
      <p:sp>
        <p:nvSpPr>
          <p:cNvPr id="22" name="card-局限 / 假设（作者承认）"/>
          <p:cNvSpPr/>
          <p:nvPr/>
        </p:nvSpPr>
        <p:spPr>
          <a:xfrm>
            <a:off x="8622792" y="274320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2"/>
          </a:solidFill>
        </p:spPr>
      </p:sp>
      <p:sp>
        <p:nvSpPr>
          <p:cNvPr id="23" name="Shape 18"/>
          <p:cNvSpPr/>
          <p:nvPr/>
        </p:nvSpPr>
        <p:spPr>
          <a:xfrm>
            <a:off x="8805672" y="289864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980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8592" y="28986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局限 / 假设（作者承认）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805672" y="3383280"/>
            <a:ext cx="274320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水平形变可忽略的假设；夏季作物导致失相干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多层含水层近似为单层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格林函数假设均质弹性介质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泊松比 0.25 为经验值，孔隙度 0.2–0.4 直接影响结果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 km 网格可能平滑局部特征</a:t>
            </a:r>
            <a:endParaRPr lang="en-US" sz="1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③ 华北平原：机器学习 InSAR 平差与承压水储量损失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概况 1/2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058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Mapping wide-area land subsidence from groundwater use in the North China plain by machine learning-based InSAR adjustment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期刊  </a:t>
            </a:r>
            <a:r>
              <a:rPr lang="en-US" sz="1300" b="1" dirty="0">
                <a:solidFill>
                  <a:schemeClr val="tx2"/>
                </a:solidFill>
              </a:rPr>
              <a:t>Remote Sensing of Environment · 334, 115226 · 2026</a:t>
            </a:r>
            <a:endParaRPr lang="en-US" sz="1200" dirty="0"/>
          </a:p>
        </p:txBody>
      </p:sp>
      <p:sp>
        <p:nvSpPr>
          <p:cNvPr id="9" name="card-研究区域"/>
          <p:cNvSpPr/>
          <p:nvPr/>
        </p:nvSpPr>
        <p:spPr>
          <a:xfrm>
            <a:off x="45720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16712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研究区域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65176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华北平原约 140,000 km²（SAR 覆盖约 300,000 km²）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中部与滨海平原上覆咸水层，主要开采中、早更新统含水层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至 2010 年形成 72,787 km² 的复合降落漏斗</a:t>
            </a:r>
            <a:endParaRPr lang="en-US" sz="1400" dirty="0"/>
          </a:p>
        </p:txBody>
      </p:sp>
      <p:sp>
        <p:nvSpPr>
          <p:cNvPr id="14" name="card-研究数据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23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416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研究数据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Sentinel-1 升轨：</a:t>
            </a:r>
            <a:r>
              <a:rPr lang="en-US" sz="1400" dirty="0">
                <a:solidFill>
                  <a:schemeClr val="tx1"/>
                </a:solidFill>
              </a:rPr>
              <a:t>3 轨 11 个 frame、2251 景，2014-10～2022-12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GNSS：</a:t>
            </a:r>
            <a:r>
              <a:rPr lang="en-US" sz="1400" dirty="0">
                <a:solidFill>
                  <a:schemeClr val="tx1"/>
                </a:solidFill>
              </a:rPr>
              <a:t>CMONOC 20 个 CORS（12 约束、8 验证）+ 305 个水平速度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水文：</a:t>
            </a:r>
            <a:r>
              <a:rPr lang="en-US" sz="1400" dirty="0">
                <a:solidFill>
                  <a:schemeClr val="tx1"/>
                </a:solidFill>
              </a:rPr>
              <a:t>潜水井 1284、承压井 569；降水；咸水分布；开采量与调水量</a:t>
            </a:r>
            <a:endParaRPr lang="en-US" sz="1400" dirty="0"/>
          </a:p>
        </p:txBody>
      </p:sp>
      <p:sp>
        <p:nvSpPr>
          <p:cNvPr id="19" name="card-研究方法"/>
          <p:cNvSpPr/>
          <p:nvPr/>
        </p:nvSpPr>
        <p:spPr>
          <a:xfrm>
            <a:off x="6217920" y="201168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49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研究方法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2651760"/>
            <a:ext cx="514807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LiCSBAS：</a:t>
            </a:r>
            <a:r>
              <a:rPr lang="en-US" sz="1500" dirty="0">
                <a:solidFill>
                  <a:schemeClr val="tx1"/>
                </a:solidFill>
              </a:rPr>
              <a:t>逐 frame 求 LOS 速度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板块运动约束：</a:t>
            </a:r>
            <a:r>
              <a:rPr lang="en-US" sz="1500" dirty="0">
                <a:solidFill>
                  <a:schemeClr val="tx1"/>
                </a:solidFill>
              </a:rPr>
              <a:t>欧拉矢量求构造水平速度，再解垂向（不假设水平为零）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候选误差模型：</a:t>
            </a:r>
            <a:r>
              <a:rPr lang="en-US" sz="1500" dirty="0">
                <a:solidFill>
                  <a:schemeClr val="tx1"/>
                </a:solidFill>
              </a:rPr>
              <a:t>每 frame 可选常数/线性/双线性/二次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K 折交叉验证（K=10）：</a:t>
            </a:r>
            <a:r>
              <a:rPr lang="en-US" sz="1500" dirty="0">
                <a:solidFill>
                  <a:schemeClr val="tx1"/>
                </a:solidFill>
              </a:rPr>
              <a:t>选 rmse 最小的组合；按连接点方位分布限制阶数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储量损失：</a:t>
            </a:r>
            <a:r>
              <a:rPr lang="en-US" sz="1500" dirty="0">
                <a:solidFill>
                  <a:schemeClr val="tx1"/>
                </a:solidFill>
              </a:rPr>
              <a:t>ΔS ≈ A·Δb（像元沉降量 × 面积）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③ 华北平原：机器学习 InSAR 平差与承压水储量损失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 2/2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7" name="Text 4"/>
          <p:cNvSpPr txBox="1"/>
          <p:nvPr/>
        </p:nvSpPr>
        <p:spPr>
          <a:xfrm>
            <a:off x="658368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2.0 mm/yr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新方法与 8 个独立 GNSS 站比对的误差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所有 frame 统一用一种误差模型时为 3.8–17.5 mm/yr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9" name="Text 6"/>
          <p:cNvSpPr txBox="1"/>
          <p:nvPr/>
        </p:nvSpPr>
        <p:spPr>
          <a:xfrm>
            <a:off x="4507992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249 亿 m³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2014.10–2022.12 承压含水层累计损失的地下水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作者称这是下限；81% 发生在 2020 年 12 月以前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11" name="Text 8"/>
          <p:cNvSpPr txBox="1"/>
          <p:nvPr/>
        </p:nvSpPr>
        <p:spPr>
          <a:xfrm>
            <a:off x="8357616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&gt; 63%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超过 63% 的面积每年下沉超过 1 cm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约 88,200 km²；衡水最严重，年均 58.2 mm</a:t>
            </a:r>
            <a:endParaRPr lang="en-US" sz="2400" dirty="0"/>
          </a:p>
        </p:txBody>
      </p:sp>
      <p:sp>
        <p:nvSpPr>
          <p:cNvPr id="12" name="card-创新点（作者自述）"/>
          <p:cNvSpPr/>
          <p:nvPr/>
        </p:nvSpPr>
        <p:spPr>
          <a:xfrm>
            <a:off x="457200" y="27432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</p:spPr>
      </p:sp>
      <p:sp>
        <p:nvSpPr>
          <p:cNvPr id="13" name="Shape 10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98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创新点（作者自述）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9260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为每个 frame 自适应选择最优长波误差模型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引入 GNSS 与板块运动模型，减小相邻轨入射角差异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组合数由 &gt;400 万降至 62,208，效率提高 67.4 倍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首次估算区域尺度承压储量损失</a:t>
            </a:r>
            <a:endParaRPr lang="en-US" sz="1600" dirty="0"/>
          </a:p>
        </p:txBody>
      </p:sp>
      <p:sp>
        <p:nvSpPr>
          <p:cNvPr id="17" name="card-研究结果"/>
          <p:cNvSpPr/>
          <p:nvPr/>
        </p:nvSpPr>
        <p:spPr>
          <a:xfrm>
            <a:off x="4023360" y="2743200"/>
            <a:ext cx="4325112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</p:spPr>
      </p:sp>
      <p:sp>
        <p:nvSpPr>
          <p:cNvPr id="18" name="Shape 14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9809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89864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研究结果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3383280"/>
            <a:ext cx="3959352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城市年均沉降：衡水 58.2、廊坊 35.5、邢台 29.6；北京 6.2 mm/yr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咸水区 29.0 vs 无咸水区 12.3 mm/yr；咸水区 2018 年达峰 38.5 mm/yr，2021 年起缓解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储量损失 2014.10–2020.12 为 202 亿 m³（81%），2021–2022 为 47 亿 m³</a:t>
            </a:r>
            <a:endParaRPr lang="en-US" sz="1600" dirty="0"/>
          </a:p>
        </p:txBody>
      </p:sp>
      <p:sp>
        <p:nvSpPr>
          <p:cNvPr id="22" name="card-局限 / 假设（作者承认）"/>
          <p:cNvSpPr/>
          <p:nvPr/>
        </p:nvSpPr>
        <p:spPr>
          <a:xfrm>
            <a:off x="8622792" y="274320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2"/>
          </a:solidFill>
        </p:spPr>
      </p:sp>
      <p:sp>
        <p:nvSpPr>
          <p:cNvPr id="23" name="Shape 18"/>
          <p:cNvSpPr/>
          <p:nvPr/>
        </p:nvSpPr>
        <p:spPr>
          <a:xfrm>
            <a:off x="8805672" y="289864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980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8592" y="28986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局限 / 假设（作者承认）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805672" y="3383280"/>
            <a:ext cx="274320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储量损失为“下限”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中部与滨海平原沉降减缓原因为“推测”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 折交叉验证有额外计算开销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前提：GNSS 稀疏、只有升轨完整覆盖</a:t>
            </a:r>
            <a:endParaRPr lang="en-US" sz="1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④ 鲁北平原：NMF 辅助 ICA 分解归因 + 深度学习预测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概况 1/2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058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Non-negative matrix factorization-assisted independent component analysis for land subsidence feature decomposition and attribution in Lubei Plain, and further integration with deep learning for subsidence prediction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期刊  </a:t>
            </a:r>
            <a:r>
              <a:rPr lang="en-US" sz="1300" b="1" dirty="0">
                <a:solidFill>
                  <a:schemeClr val="tx2"/>
                </a:solidFill>
              </a:rPr>
              <a:t>International Journal of Applied Earth Observation and Geoinformation · 146, 105097 · 2026</a:t>
            </a:r>
            <a:endParaRPr lang="en-US" sz="1200" dirty="0"/>
          </a:p>
        </p:txBody>
      </p:sp>
      <p:sp>
        <p:nvSpPr>
          <p:cNvPr id="9" name="card-研究区域"/>
          <p:cNvSpPr/>
          <p:nvPr/>
        </p:nvSpPr>
        <p:spPr>
          <a:xfrm>
            <a:off x="45720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16712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研究区域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65176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鲁北平原，华北平原东南部；年降水约 670 mm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西部德州、聊城：深层地下水灌溉，水位降幅超 100 m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东部东营：卤水开采（制盐、养殖）与胜利油田</a:t>
            </a:r>
            <a:endParaRPr lang="en-US" sz="1400" dirty="0"/>
          </a:p>
        </p:txBody>
      </p:sp>
      <p:sp>
        <p:nvSpPr>
          <p:cNvPr id="14" name="card-研究数据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23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416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研究数据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Sentinel-1A 升轨：</a:t>
            </a:r>
            <a:r>
              <a:rPr lang="en-US" sz="1400" dirty="0">
                <a:solidFill>
                  <a:schemeClr val="tx1"/>
                </a:solidFill>
              </a:rPr>
              <a:t>69-119（153 景）、142-116（179 景），2018–2023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水文气象：</a:t>
            </a:r>
            <a:r>
              <a:rPr lang="en-US" sz="1400" dirty="0">
                <a:solidFill>
                  <a:schemeClr val="tx1"/>
                </a:solidFill>
              </a:rPr>
              <a:t>GPM IMERG 降水；县区灌溉用水量；潜水/承压观测井（月）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其他：</a:t>
            </a:r>
            <a:r>
              <a:rPr lang="en-US" sz="1400" dirty="0">
                <a:solidFill>
                  <a:schemeClr val="tx1"/>
                </a:solidFill>
              </a:rPr>
              <a:t>CLCD 土地覆盖；Sentinel-2；3 个分层标（验证）</a:t>
            </a:r>
            <a:endParaRPr lang="en-US" sz="1400" dirty="0"/>
          </a:p>
        </p:txBody>
      </p:sp>
      <p:sp>
        <p:nvSpPr>
          <p:cNvPr id="19" name="card-研究方法"/>
          <p:cNvSpPr/>
          <p:nvPr/>
        </p:nvSpPr>
        <p:spPr>
          <a:xfrm>
            <a:off x="6217920" y="201168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49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研究方法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2651760"/>
            <a:ext cx="514807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SBAS-InSAR：</a:t>
            </a:r>
            <a:r>
              <a:rPr lang="en-US" sz="1500" dirty="0">
                <a:solidFill>
                  <a:schemeClr val="tx1"/>
                </a:solidFill>
              </a:rPr>
              <a:t>HyP3 + MintPy，两 frame 拼接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PCA 定成分数：</a:t>
            </a:r>
            <a:r>
              <a:rPr lang="en-US" sz="1500" dirty="0">
                <a:solidFill>
                  <a:schemeClr val="tx1"/>
                </a:solidFill>
              </a:rPr>
              <a:t>前 3 个 PC 含 92.02% 信息 → 3 个 IC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NMF 定方向 + FastICA 分解：</a:t>
            </a:r>
            <a:r>
              <a:rPr lang="en-US" sz="1500" dirty="0">
                <a:solidFill>
                  <a:schemeClr val="tx1"/>
                </a:solidFill>
              </a:rPr>
              <a:t>以 NMF 成分方向确定 IC 方向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CNN-LSTM-Attention：</a:t>
            </a:r>
            <a:r>
              <a:rPr lang="en-US" sz="1500" dirty="0">
                <a:solidFill>
                  <a:schemeClr val="tx1"/>
                </a:solidFill>
              </a:rPr>
              <a:t>预测各 IC，乘分解矩阵重构全区沉降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归因：</a:t>
            </a:r>
            <a:r>
              <a:rPr lang="en-US" sz="1500" dirty="0">
                <a:solidFill>
                  <a:schemeClr val="tx1"/>
                </a:solidFill>
              </a:rPr>
              <a:t>IC 高得分区观测井 Pearson r + 土地覆盖、灌溉、降水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④ 鲁北平原：NMF 辅助 ICA 分解归因 + 深度学习预测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 2/2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7" name="Text 4"/>
          <p:cNvSpPr txBox="1"/>
          <p:nvPr/>
        </p:nvSpPr>
        <p:spPr>
          <a:xfrm>
            <a:off x="658368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275 mm/yr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鲁北平原最快每年下沉 27.5 cm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沉降中心在东营东北沿海及聊城、德州部分地区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9" name="Text 6"/>
          <p:cNvSpPr txBox="1"/>
          <p:nvPr/>
        </p:nvSpPr>
        <p:spPr>
          <a:xfrm>
            <a:off x="4507992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3 个 IC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沉降信号被拆成 3 个独立成分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分别是持续沉降、2020 年拐点型、季节周期型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11" name="Text 8"/>
          <p:cNvSpPr txBox="1"/>
          <p:nvPr/>
        </p:nvSpPr>
        <p:spPr>
          <a:xfrm>
            <a:off x="8357616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0.80–0.86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用深度学习预测这 3 个成分，测试集 R²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季节性的 IC3 最难预测（R² 0.80）</a:t>
            </a:r>
            <a:endParaRPr lang="en-US" sz="2400" dirty="0"/>
          </a:p>
        </p:txBody>
      </p:sp>
      <p:sp>
        <p:nvSpPr>
          <p:cNvPr id="12" name="card-创新点（作者自述）"/>
          <p:cNvSpPr/>
          <p:nvPr/>
        </p:nvSpPr>
        <p:spPr>
          <a:xfrm>
            <a:off x="457200" y="27432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</p:spPr>
      </p:sp>
      <p:sp>
        <p:nvSpPr>
          <p:cNvPr id="13" name="Shape 10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98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创新点（作者自述）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9260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以 NMF 方向解决 ICA 方向难确定问题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在 IC 高得分区选井做归因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先预测 IC 再重构，无需逐点预测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IC3 反转区分灌溉驱动与降水驱动</a:t>
            </a:r>
            <a:endParaRPr lang="en-US" sz="1600" dirty="0"/>
          </a:p>
        </p:txBody>
      </p:sp>
      <p:sp>
        <p:nvSpPr>
          <p:cNvPr id="17" name="card-研究结果"/>
          <p:cNvSpPr/>
          <p:nvPr/>
        </p:nvSpPr>
        <p:spPr>
          <a:xfrm>
            <a:off x="4023360" y="2743200"/>
            <a:ext cx="4325112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</p:spPr>
      </p:sp>
      <p:sp>
        <p:nvSpPr>
          <p:cNvPr id="18" name="Shape 14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9809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89864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研究结果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3383280"/>
            <a:ext cx="3959352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沉降中心：东营东北沿海及聊城、德州部分地区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IC1 近线性：深层承压水超采、卤水与石油开采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IC2 以 2020 年为拐点：与年际降水相关的中浅层压缩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IC3 周期性：季节灌溉（原方向）/降水驱动地表微形变（反转）</a:t>
            </a:r>
            <a:endParaRPr lang="en-US" sz="1600" dirty="0"/>
          </a:p>
        </p:txBody>
      </p:sp>
      <p:sp>
        <p:nvSpPr>
          <p:cNvPr id="22" name="card-局限 / 假设（作者承认）"/>
          <p:cNvSpPr/>
          <p:nvPr/>
        </p:nvSpPr>
        <p:spPr>
          <a:xfrm>
            <a:off x="8622792" y="274320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2"/>
          </a:solidFill>
        </p:spPr>
      </p:sp>
      <p:sp>
        <p:nvSpPr>
          <p:cNvPr id="23" name="Shape 18"/>
          <p:cNvSpPr/>
          <p:nvPr/>
        </p:nvSpPr>
        <p:spPr>
          <a:xfrm>
            <a:off x="8805672" y="289864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980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8592" y="28986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局限 / 假设（作者承认）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805672" y="3383280"/>
            <a:ext cx="274320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SBAS 可靠性低于 PS-InSAR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压缩层不完全独立，归因依赖后验信息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未按埋深、土质进一步分解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预测假设短期趋势不剧变，不用协变量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井为点观测，开采层与监测层可能不一致</a:t>
            </a:r>
            <a:endParaRPr lang="en-US" sz="1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2377440" y="22860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二、中国东部省域与沿海沉降</a:t>
            </a:r>
            <a:endParaRPr lang="en-US" sz="3600" dirty="0"/>
          </a:p>
        </p:txBody>
      </p:sp>
      <p:sp>
        <p:nvSpPr>
          <p:cNvPr id="4" name="Text 0"/>
          <p:cNvSpPr/>
          <p:nvPr>
            <p:ph type="body" idx="101" hasCustomPrompt="1"/>
          </p:nvPr>
        </p:nvSpPr>
        <p:spPr>
          <a:xfrm>
            <a:off x="2377440" y="34290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江苏全省 · 鲁苏沿海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1188720" cy="11887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517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4343400"/>
            <a:ext cx="91440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⑤  江苏全省：Sentinel-1 地面沉降监测与成因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⑥  中国东部沿海（鲁、苏）：高分辨率沉降制图与驱动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⑤ 江苏全省：Sentinel-1 地面沉降监测与成因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概况 1/2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058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Investigating Ground Subsidence and the Causes over the Whole Jiangsu Province, China Using Sentinel-1 SAR Data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期刊  </a:t>
            </a:r>
            <a:r>
              <a:rPr lang="en-US" sz="1300" b="1" dirty="0">
                <a:solidFill>
                  <a:schemeClr val="tx2"/>
                </a:solidFill>
              </a:rPr>
              <a:t>Remote Sensing (MDPI) · 13, 179 · 2021</a:t>
            </a:r>
            <a:endParaRPr lang="en-US" sz="1200" dirty="0"/>
          </a:p>
        </p:txBody>
      </p:sp>
      <p:sp>
        <p:nvSpPr>
          <p:cNvPr id="9" name="card-研究区域"/>
          <p:cNvSpPr/>
          <p:nvPr/>
        </p:nvSpPr>
        <p:spPr>
          <a:xfrm>
            <a:off x="45720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16712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研究区域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65176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江苏全省 107,200 km²，长三角地区，80% 以上为平原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至 2000 年苏锡常 5000 km² 累计沉降 &gt;0.2 m，最大 2 m</a:t>
            </a:r>
            <a:endParaRPr lang="en-US" sz="1400" dirty="0"/>
          </a:p>
        </p:txBody>
      </p:sp>
      <p:sp>
        <p:nvSpPr>
          <p:cNvPr id="14" name="card-研究数据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23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416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研究数据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Sentinel-1 IW 升轨：</a:t>
            </a:r>
            <a:r>
              <a:rPr lang="en-US" sz="1400" dirty="0">
                <a:solidFill>
                  <a:schemeClr val="tx1"/>
                </a:solidFill>
              </a:rPr>
              <a:t>3 轨 6 个 frame，2015-11～2018-12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水准：</a:t>
            </a:r>
            <a:r>
              <a:rPr lang="en-US" sz="1400" dirty="0">
                <a:solidFill>
                  <a:schemeClr val="tx1"/>
                </a:solidFill>
              </a:rPr>
              <a:t>常州、南通、淮安共 688 点（527 点用于评估）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辅助：</a:t>
            </a:r>
            <a:r>
              <a:rPr lang="en-US" sz="1400" dirty="0">
                <a:solidFill>
                  <a:schemeClr val="tx1"/>
                </a:solidFill>
              </a:rPr>
              <a:t>SRTM DEM；Google Earth 历史影像；2019 年野外调查；煤矿参数</a:t>
            </a:r>
            <a:endParaRPr lang="en-US" sz="1400" dirty="0"/>
          </a:p>
        </p:txBody>
      </p:sp>
      <p:sp>
        <p:nvSpPr>
          <p:cNvPr id="19" name="card-研究方法"/>
          <p:cNvSpPr/>
          <p:nvPr/>
        </p:nvSpPr>
        <p:spPr>
          <a:xfrm>
            <a:off x="6217920" y="201168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49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研究方法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2651760"/>
            <a:ext cx="514807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MCTSB-InSAR：</a:t>
            </a:r>
            <a:r>
              <a:rPr lang="en-US" sz="1500" dirty="0">
                <a:solidFill>
                  <a:schemeClr val="tx1"/>
                </a:solidFill>
              </a:rPr>
              <a:t>自研 GDEMSI 软件，多主影像相干目标小基线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三级配准：</a:t>
            </a:r>
            <a:r>
              <a:rPr lang="en-US" sz="1500" dirty="0">
                <a:solidFill>
                  <a:schemeClr val="tx1"/>
                </a:solidFill>
              </a:rPr>
              <a:t>查找表 → 振幅互相关 → ESD（千分之一像元）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干涉图筛选：</a:t>
            </a:r>
            <a:r>
              <a:rPr lang="en-US" sz="1500" dirty="0">
                <a:solidFill>
                  <a:schemeClr val="tx1"/>
                </a:solidFill>
              </a:rPr>
              <a:t>剔除 6–9 月强对流层干扰的干涉图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垂向化与拼接：</a:t>
            </a:r>
            <a:r>
              <a:rPr lang="en-US" sz="1500" dirty="0">
                <a:solidFill>
                  <a:schemeClr val="tx1"/>
                </a:solidFill>
              </a:rPr>
              <a:t>仅垂向假设（LOS/cosθ），6 个 frame 平差拼接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成因分析：</a:t>
            </a:r>
            <a:r>
              <a:rPr lang="en-US" sz="1500" dirty="0">
                <a:solidFill>
                  <a:schemeClr val="tx1"/>
                </a:solidFill>
              </a:rPr>
              <a:t>五个重点区结合时序、历史影像与野外调查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⑤ 江苏全省：Sentinel-1 地面沉降监测与成因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 2/2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7" name="Text 4"/>
          <p:cNvSpPr txBox="1"/>
          <p:nvPr/>
        </p:nvSpPr>
        <p:spPr>
          <a:xfrm>
            <a:off x="658368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9,276,214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全省共获得约 928 万个可靠测量点（相干点）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约 82% 的点每年变化不到 ±5 mm，基本稳定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9" name="Text 6"/>
          <p:cNvSpPr txBox="1"/>
          <p:nvPr/>
        </p:nvSpPr>
        <p:spPr>
          <a:xfrm>
            <a:off x="4507992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3.9 mm/yr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与 527 个水准点比对的误差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水准点来自常州、南通、淮安三市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11" name="Text 8"/>
          <p:cNvSpPr txBox="1"/>
          <p:nvPr/>
        </p:nvSpPr>
        <p:spPr>
          <a:xfrm>
            <a:off x="8357616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−215 mm/yr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全省最快每年下沉 21.5 cm，在连云港新填海码头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作者归因于新填土固结</a:t>
            </a:r>
            <a:endParaRPr lang="en-US" sz="2400" dirty="0"/>
          </a:p>
        </p:txBody>
      </p:sp>
      <p:sp>
        <p:nvSpPr>
          <p:cNvPr id="12" name="card-创新点（作者自述）"/>
          <p:cNvSpPr/>
          <p:nvPr/>
        </p:nvSpPr>
        <p:spPr>
          <a:xfrm>
            <a:off x="457200" y="27432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</p:spPr>
      </p:sp>
      <p:sp>
        <p:nvSpPr>
          <p:cNvPr id="13" name="Shape 10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98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创新点（作者自述）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9260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作者称为中国用 Sentinel-1 做大范围形变制图的“first of its kind”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给出三级配准、时序反演与多 frame 拼接完整流程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结合时序、历史影像与野外调查推断成因</a:t>
            </a:r>
            <a:endParaRPr lang="en-US" sz="1600" dirty="0"/>
          </a:p>
        </p:txBody>
      </p:sp>
      <p:sp>
        <p:nvSpPr>
          <p:cNvPr id="17" name="card-研究结果"/>
          <p:cNvSpPr/>
          <p:nvPr/>
        </p:nvSpPr>
        <p:spPr>
          <a:xfrm>
            <a:off x="4023360" y="2743200"/>
            <a:ext cx="4325112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</p:spPr>
      </p:sp>
      <p:sp>
        <p:nvSpPr>
          <p:cNvPr id="18" name="Shape 14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9809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89864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研究结果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3383280"/>
            <a:ext cx="3959352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约 82% CP 在 ±5 mm/yr；14.22% 在 −30～−5 mm/yr；3.37% 抬升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填海区（连云港）、新建区（苏州吴江）：软土固结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丰县城区（−89～−20）、南通紫菜养殖区：地下水开采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徐州煤矿：首个相干期累计形变 670 mm</a:t>
            </a:r>
            <a:endParaRPr lang="en-US" sz="1600" dirty="0"/>
          </a:p>
        </p:txBody>
      </p:sp>
      <p:sp>
        <p:nvSpPr>
          <p:cNvPr id="22" name="card-局限 / 假设（作者承认）"/>
          <p:cNvSpPr/>
          <p:nvPr/>
        </p:nvSpPr>
        <p:spPr>
          <a:xfrm>
            <a:off x="8622792" y="274320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2"/>
          </a:solidFill>
        </p:spPr>
      </p:sp>
      <p:sp>
        <p:nvSpPr>
          <p:cNvPr id="23" name="Shape 18"/>
          <p:cNvSpPr/>
          <p:nvPr/>
        </p:nvSpPr>
        <p:spPr>
          <a:xfrm>
            <a:off x="8805672" y="289864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980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8592" y="28986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局限 / 假设（作者承认）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805672" y="3383280"/>
            <a:ext cx="274320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采矿区农田几乎无 CP，量值被低估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抬升区成因不清（地下水回升或潮汐/大气误差）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夏季干涉图被剔除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水准点密度、频次各市不一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盐城 C 区未发现抽水证据</a:t>
            </a:r>
            <a:endParaRPr lang="en-US" sz="1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⑥ 中国东部沿海（鲁、苏）：高分辨率沉降制图与驱动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概况 1/2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058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Large-scale high-resolution coastal subsidence mapping in eastern China with Sentinel-1 and Sentinel-2: Heterogeneous patterns and primary drivers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期刊  </a:t>
            </a:r>
            <a:r>
              <a:rPr lang="en-US" sz="1300" b="1" dirty="0">
                <a:solidFill>
                  <a:schemeClr val="tx2"/>
                </a:solidFill>
              </a:rPr>
              <a:t>International Journal of Applied Earth Observation and Geoinformation · 146, 105047 · 2026</a:t>
            </a:r>
            <a:endParaRPr lang="en-US" sz="1200" dirty="0"/>
          </a:p>
        </p:txBody>
      </p:sp>
      <p:sp>
        <p:nvSpPr>
          <p:cNvPr id="9" name="card-研究区域"/>
          <p:cNvSpPr/>
          <p:nvPr/>
        </p:nvSpPr>
        <p:spPr>
          <a:xfrm>
            <a:off x="45720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16712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研究区域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65176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山东、江苏两省沿海，海岸线向陆 100 km 缓冲区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山东：黄河三角洲平均高程 &lt;10 m，海岸线 3,505 km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江苏：以平原为主，海岸线约 954 km</a:t>
            </a:r>
            <a:endParaRPr lang="en-US" sz="1400" dirty="0"/>
          </a:p>
        </p:txBody>
      </p:sp>
      <p:sp>
        <p:nvSpPr>
          <p:cNvPr id="14" name="card-研究数据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23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416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研究数据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Sentinel-1：</a:t>
            </a:r>
            <a:r>
              <a:rPr lang="en-US" sz="1400" dirty="0">
                <a:solidFill>
                  <a:schemeClr val="tx1"/>
                </a:solidFill>
              </a:rPr>
              <a:t>7 轨 16 个 frame、2,486 景（主要 1A 升轨），2017-03～2023-12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GNSS：</a:t>
            </a:r>
            <a:r>
              <a:rPr lang="en-US" sz="1400" dirty="0">
                <a:solidFill>
                  <a:schemeClr val="tx1"/>
                </a:solidFill>
              </a:rPr>
              <a:t>CMONOC 9 个连续站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地下水位：</a:t>
            </a:r>
            <a:r>
              <a:rPr lang="en-US" sz="1400" dirty="0">
                <a:solidFill>
                  <a:schemeClr val="tx1"/>
                </a:solidFill>
              </a:rPr>
              <a:t>2018–2021，5 天间隔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其他：</a:t>
            </a:r>
            <a:r>
              <a:rPr lang="en-US" sz="1400" dirty="0">
                <a:solidFill>
                  <a:schemeClr val="tx1"/>
                </a:solidFill>
              </a:rPr>
              <a:t>Sentinel-2（10 m）；Landsat 土地覆盖；地质图；NASADEM</a:t>
            </a:r>
            <a:endParaRPr lang="en-US" sz="1400" dirty="0"/>
          </a:p>
        </p:txBody>
      </p:sp>
      <p:sp>
        <p:nvSpPr>
          <p:cNvPr id="19" name="card-研究方法"/>
          <p:cNvSpPr/>
          <p:nvPr/>
        </p:nvSpPr>
        <p:spPr>
          <a:xfrm>
            <a:off x="6217920" y="201168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49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研究方法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2651760"/>
            <a:ext cx="514807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ISCE + MintPy SBAS：</a:t>
            </a:r>
            <a:r>
              <a:rPr lang="en-US" sz="1500" dirty="0">
                <a:solidFill>
                  <a:schemeClr val="tx1"/>
                </a:solidFill>
              </a:rPr>
              <a:t>90 m 分辨率，GACOS 等误差改正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垂向化：</a:t>
            </a:r>
            <a:r>
              <a:rPr lang="en-US" sz="1500" dirty="0">
                <a:solidFill>
                  <a:schemeClr val="tx1"/>
                </a:solidFill>
              </a:rPr>
              <a:t>升降轨显示水平形变不显著，LOS/cosθ 转垂向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沿海多 frame 拼接：</a:t>
            </a:r>
            <a:r>
              <a:rPr lang="en-US" sz="1500" dirty="0">
                <a:solidFill>
                  <a:schemeClr val="tx1"/>
                </a:solidFill>
              </a:rPr>
              <a:t>无控制区域网平差，取重叠区近似众数作观测值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驱动分析：</a:t>
            </a:r>
            <a:r>
              <a:rPr lang="en-US" sz="1500" dirty="0">
                <a:solidFill>
                  <a:schemeClr val="tx1"/>
                </a:solidFill>
              </a:rPr>
              <a:t>PCA 时序模式 + Sentinel-2 解译 + 野外调查 + 井周 300 m 对比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⑥ 中国东部沿海（鲁、苏）：高分辨率沉降制图与驱动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 2/2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7" name="Text 4"/>
          <p:cNvSpPr txBox="1"/>
          <p:nvPr/>
        </p:nvSpPr>
        <p:spPr>
          <a:xfrm>
            <a:off x="658368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23,653 km²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每年下沉超过 2 cm 的面积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占沿海 100 km 研究带的 15.6%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9" name="Text 6"/>
          <p:cNvSpPr txBox="1"/>
          <p:nvPr/>
        </p:nvSpPr>
        <p:spPr>
          <a:xfrm>
            <a:off x="4507992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344 mm/yr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最快每年下沉 34.4 cm，在黄河三角洲（东营）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作者归因于制盐和养殖抽取卤水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11" name="Text 8"/>
          <p:cNvSpPr txBox="1"/>
          <p:nvPr/>
        </p:nvSpPr>
        <p:spPr>
          <a:xfrm>
            <a:off x="8357616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1.3 mm/yr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与 9 个 GNSS 连续站比对的误差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精度达到毫米级</a:t>
            </a:r>
            <a:endParaRPr lang="en-US" sz="2400" dirty="0"/>
          </a:p>
        </p:txBody>
      </p:sp>
      <p:sp>
        <p:nvSpPr>
          <p:cNvPr id="12" name="card-创新点（作者自述）"/>
          <p:cNvSpPr/>
          <p:nvPr/>
        </p:nvSpPr>
        <p:spPr>
          <a:xfrm>
            <a:off x="457200" y="27432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</p:spPr>
      </p:sp>
      <p:sp>
        <p:nvSpPr>
          <p:cNvPr id="13" name="Shape 10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98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创新点（作者自述）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9260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适用于海陆过渡带的多 frame 拼接方法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首次发现鲁苏沿海多个 &gt;50 mm/yr 快速沉降漏斗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综合 Sentinel-2、时序、水位与 PCA 分析驱动</a:t>
            </a:r>
            <a:endParaRPr lang="en-US" sz="1600" dirty="0"/>
          </a:p>
        </p:txBody>
      </p:sp>
      <p:sp>
        <p:nvSpPr>
          <p:cNvPr id="17" name="card-研究结果"/>
          <p:cNvSpPr/>
          <p:nvPr/>
        </p:nvSpPr>
        <p:spPr>
          <a:xfrm>
            <a:off x="4023360" y="2743200"/>
            <a:ext cx="4325112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</p:spPr>
      </p:sp>
      <p:sp>
        <p:nvSpPr>
          <p:cNvPr id="18" name="Shape 14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9809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89864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研究结果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3383280"/>
            <a:ext cx="3959352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东营：制盐、养殖抽卤（最大 340 mm/yr）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广饶：卤水与深层地下水开采（245 mm/yr）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龙口港—裕龙岛：填海与工业荷载固结（92 mm/yr）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盐城王港河：对虾养殖抽水，2022–23 最大 630 mm/yr</a:t>
            </a:r>
            <a:endParaRPr lang="en-US" sz="1600" dirty="0"/>
          </a:p>
        </p:txBody>
      </p:sp>
      <p:sp>
        <p:nvSpPr>
          <p:cNvPr id="22" name="card-局限 / 假设（作者承认）"/>
          <p:cNvSpPr/>
          <p:nvPr/>
        </p:nvSpPr>
        <p:spPr>
          <a:xfrm>
            <a:off x="8622792" y="274320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2"/>
          </a:solidFill>
        </p:spPr>
      </p:sp>
      <p:sp>
        <p:nvSpPr>
          <p:cNvPr id="23" name="Shape 18"/>
          <p:cNvSpPr/>
          <p:nvPr/>
        </p:nvSpPr>
        <p:spPr>
          <a:xfrm>
            <a:off x="8805672" y="289864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980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8592" y="28986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局限 / 假设（作者承认）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805672" y="3383280"/>
            <a:ext cx="274320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GNSS 对比用最近像元，对噪声敏感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失相干区存在解缠误差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水位仅覆盖 2018–2021，有缺测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PCA 主成分数不对应驱动数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仅部分区域有升降轨</a:t>
            </a:r>
            <a:endParaRPr lang="en-US" sz="1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2377440" y="22860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三、国家与全球尺度沉降</a:t>
            </a:r>
            <a:endParaRPr lang="en-US" sz="3600" dirty="0"/>
          </a:p>
        </p:txBody>
      </p:sp>
      <p:sp>
        <p:nvSpPr>
          <p:cNvPr id="4" name="Text 0"/>
          <p:cNvSpPr/>
          <p:nvPr>
            <p:ph type="body" idx="101" hasCustomPrompt="1"/>
          </p:nvPr>
        </p:nvSpPr>
        <p:spPr>
          <a:xfrm>
            <a:off x="2377440" y="34290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美国 · 伊朗 · 爪哇岛 · 全球三角洲 · 湄公河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1188720" cy="11887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517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4343400"/>
            <a:ext cx="91440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⑦  美国本土：全国尺度 InSAR 沉降制图与特征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⑧  伊朗全国：沉降揭示不可恢复的含水层耗竭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⑨  爪哇岛：地面沉降及其对相对海平面的贡献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⑩  全球 40 个河流三角洲沉降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⑪  湄公河三角洲：干旱诱发的地面沉降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⑦ 美国本土：全国尺度 InSAR 沉降制图与特征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概况 1/2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058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Nationwide mapping and characterization of land subsidence in the United States using InSAR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期刊  </a:t>
            </a:r>
            <a:r>
              <a:rPr lang="en-US" sz="1300" b="1" dirty="0">
                <a:solidFill>
                  <a:schemeClr val="tx2"/>
                </a:solidFill>
              </a:rPr>
              <a:t>Remote Sensing of Environment · 333, 115134 · 2026</a:t>
            </a:r>
            <a:endParaRPr lang="en-US" sz="1200" dirty="0"/>
          </a:p>
        </p:txBody>
      </p:sp>
      <p:sp>
        <p:nvSpPr>
          <p:cNvPr id="9" name="card-研究区域"/>
          <p:cNvSpPr/>
          <p:nvPr/>
        </p:nvSpPr>
        <p:spPr>
          <a:xfrm>
            <a:off x="45720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16712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研究区域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65176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美国本土 48 个州及哥伦比亚特区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既有资料：45 州逾 44,000 km² 受沉降影响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以往 InSAR 研究多为局部或区域尺度</a:t>
            </a:r>
            <a:endParaRPr lang="en-US" sz="1400" dirty="0"/>
          </a:p>
        </p:txBody>
      </p:sp>
      <p:sp>
        <p:nvSpPr>
          <p:cNvPr id="14" name="card-研究数据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23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416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研究数据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Sentinel-1 升轨：</a:t>
            </a:r>
            <a:r>
              <a:rPr lang="en-US" sz="1400" dirty="0">
                <a:solidFill>
                  <a:schemeClr val="tx1"/>
                </a:solidFill>
              </a:rPr>
              <a:t>28 轨 23,391 景、321 个 frame，2019-01～2021-12，约 87 TB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GNSS：</a:t>
            </a:r>
            <a:r>
              <a:rPr lang="en-US" sz="1400" dirty="0">
                <a:solidFill>
                  <a:schemeClr val="tx1"/>
                </a:solidFill>
              </a:rPr>
              <a:t>4242 站验证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DeforNet 训练：</a:t>
            </a:r>
            <a:r>
              <a:rPr lang="en-US" sz="1400" dirty="0">
                <a:solidFill>
                  <a:schemeClr val="tx1"/>
                </a:solidFill>
              </a:rPr>
              <a:t>中国 8 省 InSAR 速率图，20,280 个样本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辅助：</a:t>
            </a:r>
            <a:r>
              <a:rPr lang="en-US" sz="1400" dirty="0">
                <a:solidFill>
                  <a:schemeClr val="tx1"/>
                </a:solidFill>
              </a:rPr>
              <a:t>土地覆盖、灌溉耕地、人口、48,341 口井、建筑与道路</a:t>
            </a:r>
            <a:endParaRPr lang="en-US" sz="1400" dirty="0"/>
          </a:p>
        </p:txBody>
      </p:sp>
      <p:sp>
        <p:nvSpPr>
          <p:cNvPr id="19" name="card-研究方法"/>
          <p:cNvSpPr/>
          <p:nvPr/>
        </p:nvSpPr>
        <p:spPr>
          <a:xfrm>
            <a:off x="6217920" y="201168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49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研究方法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2651760"/>
            <a:ext cx="514807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自适应 EDAD 改正：</a:t>
            </a:r>
            <a:r>
              <a:rPr lang="en-US" sz="1500" dirty="0">
                <a:solidFill>
                  <a:schemeClr val="tx1"/>
                </a:solidFill>
              </a:rPr>
              <a:t>6 km 块 IRLS 拟合，只改正受影响像元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迭代 Stacking：</a:t>
            </a:r>
            <a:r>
              <a:rPr lang="en-US" sz="1500" dirty="0">
                <a:solidFill>
                  <a:schemeClr val="tx1"/>
                </a:solidFill>
              </a:rPr>
              <a:t>掩膜形变像元，估计湍流大气后重算速率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区域网平差拼接：</a:t>
            </a:r>
            <a:r>
              <a:rPr lang="en-US" sz="1500" dirty="0">
                <a:solidFill>
                  <a:schemeClr val="tx1"/>
                </a:solidFill>
              </a:rPr>
              <a:t>321 个 frame，结果保留 LOS 方向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DeforNet：</a:t>
            </a:r>
            <a:r>
              <a:rPr lang="en-US" sz="1500" dirty="0">
                <a:solidFill>
                  <a:schemeClr val="tx1"/>
                </a:solidFill>
              </a:rPr>
              <a:t>U-Net + 注意力识别沉降区，坡度/地震目录剔除误判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暴露与风险：</a:t>
            </a:r>
            <a:r>
              <a:rPr lang="en-US" sz="1500" dirty="0">
                <a:solidFill>
                  <a:schemeClr val="tx1"/>
                </a:solidFill>
              </a:rPr>
              <a:t>角变形 × 人口密度风险矩阵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⑦ 美国本土：全国尺度 InSAR 沉降制图与特征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 2/2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7" name="Text 4"/>
          <p:cNvSpPr txBox="1"/>
          <p:nvPr/>
        </p:nvSpPr>
        <p:spPr>
          <a:xfrm>
            <a:off x="658368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45,666 km²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美国本土正在下沉的总面积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62.5% 在加州；73% 是耕地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9" name="Text 6"/>
          <p:cNvSpPr txBox="1"/>
          <p:nvPr/>
        </p:nvSpPr>
        <p:spPr>
          <a:xfrm>
            <a:off x="4507992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626 万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生活在沉降区内的人口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96% 在加州；另有 160,071 座建筑受影响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11" name="Text 8"/>
          <p:cNvSpPr txBox="1"/>
          <p:nvPr/>
        </p:nvSpPr>
        <p:spPr>
          <a:xfrm>
            <a:off x="8357616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5.2 mm/yr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与 4242 个 GNSS 站比对的误差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87.5% 的站差值在 8 mm/yr 以内</a:t>
            </a:r>
            <a:endParaRPr lang="en-US" sz="2400" dirty="0"/>
          </a:p>
        </p:txBody>
      </p:sp>
      <p:sp>
        <p:nvSpPr>
          <p:cNvPr id="12" name="card-创新点（作者自述）"/>
          <p:cNvSpPr/>
          <p:nvPr/>
        </p:nvSpPr>
        <p:spPr>
          <a:xfrm>
            <a:off x="457200" y="27432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</p:spPr>
      </p:sp>
      <p:sp>
        <p:nvSpPr>
          <p:cNvPr id="13" name="Shape 10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98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创新点（作者自述）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9260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美国本土首张高分辨率全国沉降图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只改正受影响像元的自适应 EDAD 方法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平均速率 + 拼接 + 深度学习识别的全国处理策略</a:t>
            </a:r>
            <a:endParaRPr lang="en-US" sz="1600" dirty="0"/>
          </a:p>
        </p:txBody>
      </p:sp>
      <p:sp>
        <p:nvSpPr>
          <p:cNvPr id="17" name="card-研究结果"/>
          <p:cNvSpPr/>
          <p:nvPr/>
        </p:nvSpPr>
        <p:spPr>
          <a:xfrm>
            <a:off x="4023360" y="2743200"/>
            <a:ext cx="4325112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</p:spPr>
      </p:sp>
      <p:sp>
        <p:nvSpPr>
          <p:cNvPr id="18" name="Shape 14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9809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89864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研究结果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3383280"/>
            <a:ext cx="3959352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48 州与 DC 均有沉降；最大 LOS 47.5 cm/yr（中央谷地）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耕地 73%、湿地 10%；灌溉耕地占 24%，贡献 67%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91% 沉降区在含水层内，地下水超采被视为主要驱动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暴露建筑 160,071 座；DeforNet 识别准确率约 87%</a:t>
            </a:r>
            <a:endParaRPr lang="en-US" sz="1600" dirty="0"/>
          </a:p>
        </p:txBody>
      </p:sp>
      <p:sp>
        <p:nvSpPr>
          <p:cNvPr id="22" name="card-局限 / 假设（作者承认）"/>
          <p:cNvSpPr/>
          <p:nvPr/>
        </p:nvSpPr>
        <p:spPr>
          <a:xfrm>
            <a:off x="8622792" y="274320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2"/>
          </a:solidFill>
        </p:spPr>
      </p:sp>
      <p:sp>
        <p:nvSpPr>
          <p:cNvPr id="23" name="Shape 18"/>
          <p:cNvSpPr/>
          <p:nvPr/>
        </p:nvSpPr>
        <p:spPr>
          <a:xfrm>
            <a:off x="8805672" y="289864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980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8592" y="28986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局限 / 假设（作者承认）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805672" y="3383280"/>
            <a:ext cx="274320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局部参考点，构造与 GIA 信号未保留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时序只针对特定区域计算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沉降区范围很可能被低估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角变形仅基于约 3 年观测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案例分析不确立因果机制</a:t>
            </a:r>
            <a:endParaRPr lang="en-US" sz="1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⑧ 伊朗全国：沉降揭示不可恢复的含水层耗竭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概况 1/2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058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Widespread Extent of Irrecoverable Aquifer Depletion Revealed by Country-Wide Analysis of Land Surface Subsidence Hazard in Iran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期刊  </a:t>
            </a:r>
            <a:r>
              <a:rPr lang="en-US" sz="1300" b="1" dirty="0">
                <a:solidFill>
                  <a:schemeClr val="tx2"/>
                </a:solidFill>
              </a:rPr>
              <a:t>Journal of Geophysical Research: Solid Earth · 130, e2024JB030367 · 2025</a:t>
            </a:r>
            <a:endParaRPr lang="en-US" sz="1200" dirty="0"/>
          </a:p>
        </p:txBody>
      </p:sp>
      <p:sp>
        <p:nvSpPr>
          <p:cNvPr id="9" name="card-研究区域"/>
          <p:cNvSpPr/>
          <p:nvPr/>
        </p:nvSpPr>
        <p:spPr>
          <a:xfrm>
            <a:off x="45720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16712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研究区域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65176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伊朗全国 106 个快速沉降区（&gt;10 mm/yr、&gt;4 km²）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地下水约占总供水 60%，其中 90% 用于农业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人口最多的 10 个城市中 7 个靠近沉降区</a:t>
            </a:r>
            <a:endParaRPr lang="en-US" sz="1400" dirty="0"/>
          </a:p>
        </p:txBody>
      </p:sp>
      <p:sp>
        <p:nvSpPr>
          <p:cNvPr id="14" name="card-研究数据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23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416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研究数据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Sentinel-1 升降轨：</a:t>
            </a:r>
            <a:r>
              <a:rPr lang="en-US" sz="1400" dirty="0">
                <a:solidFill>
                  <a:schemeClr val="tx1"/>
                </a:solidFill>
              </a:rPr>
              <a:t>COMET-LiCS 干涉图（约 100 m），2014-10～2022-12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ICA 时序：</a:t>
            </a:r>
            <a:r>
              <a:rPr lang="en-US" sz="1400" dirty="0">
                <a:solidFill>
                  <a:schemeClr val="tx1"/>
                </a:solidFill>
              </a:rPr>
              <a:t>31 降 + 28 升 frame，1 km，2016–2021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辅助：</a:t>
            </a:r>
            <a:r>
              <a:rPr lang="en-US" sz="1400" dirty="0">
                <a:solidFill>
                  <a:schemeClr val="tx1"/>
                </a:solidFill>
              </a:rPr>
              <a:t>插值水平 GNSS 场、GACOS、ERA5、WorldPop、土地覆盖、断层图</a:t>
            </a:r>
            <a:endParaRPr lang="en-US" sz="1400" dirty="0"/>
          </a:p>
        </p:txBody>
      </p:sp>
      <p:sp>
        <p:nvSpPr>
          <p:cNvPr id="19" name="card-研究方法"/>
          <p:cNvSpPr/>
          <p:nvPr/>
        </p:nvSpPr>
        <p:spPr>
          <a:xfrm>
            <a:off x="6217920" y="201168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49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研究方法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2651760"/>
            <a:ext cx="514807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LiCSBAS 时序：</a:t>
            </a:r>
            <a:r>
              <a:rPr lang="en-US" sz="1500" dirty="0">
                <a:solidFill>
                  <a:schemeClr val="tx1"/>
                </a:solidFill>
              </a:rPr>
              <a:t>相位闭合差与噪声指标掩膜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速度分解：</a:t>
            </a:r>
            <a:r>
              <a:rPr lang="en-US" sz="1500" dirty="0">
                <a:solidFill>
                  <a:schemeClr val="tx1"/>
                </a:solidFill>
              </a:rPr>
              <a:t>升降轨联合求垂向与东西向，参考欧亚固定框架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差异沉降风险：</a:t>
            </a:r>
            <a:r>
              <a:rPr lang="en-US" sz="1500" dirty="0">
                <a:solidFill>
                  <a:schemeClr val="tx1"/>
                </a:solidFill>
              </a:rPr>
              <a:t>角变形 β 分级；风险＝(3×SHG + Vsub)×人口密度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时间域 FastICA：</a:t>
            </a:r>
            <a:r>
              <a:rPr lang="en-US" sz="1500" dirty="0">
                <a:solidFill>
                  <a:schemeClr val="tx1"/>
                </a:solidFill>
              </a:rPr>
              <a:t>分离非弹性与弹性成分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比例计算：</a:t>
            </a:r>
            <a:r>
              <a:rPr lang="en-US" sz="1500" dirty="0">
                <a:solidFill>
                  <a:schemeClr val="tx1"/>
                </a:solidFill>
              </a:rPr>
              <a:t>非弹性/混合比、弹性/非弹性比 R_ed/id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⑧ 伊朗全国：沉降揭示不可恢复的含水层耗竭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 2/2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7" name="Text 4"/>
          <p:cNvSpPr txBox="1"/>
          <p:nvPr/>
        </p:nvSpPr>
        <p:spPr>
          <a:xfrm>
            <a:off x="658368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31,400 km²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每年下沉超过 1 cm 的面积，占国土 1.9%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分布在 106 个沉降区，约 77% 位于农田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9" name="Text 6"/>
          <p:cNvSpPr txBox="1"/>
          <p:nvPr/>
        </p:nvSpPr>
        <p:spPr>
          <a:xfrm>
            <a:off x="4507992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~340 mm/yr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最快的 Rafsanjan 每年下沉约 34 cm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2016–2021 年视线向非弹性压实约 1.3 m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11" name="Text 8"/>
          <p:cNvSpPr txBox="1"/>
          <p:nvPr/>
        </p:nvSpPr>
        <p:spPr>
          <a:xfrm>
            <a:off x="8357616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41–44% → 31–36%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德黑兰：弹性（可恢复）与非弹性（不可恢复）形变之比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2017–18 年 41–44%，2019–21 年降到 31–36%，含水层越来越难回弹</a:t>
            </a:r>
            <a:endParaRPr lang="en-US" sz="2400" dirty="0"/>
          </a:p>
        </p:txBody>
      </p:sp>
      <p:sp>
        <p:nvSpPr>
          <p:cNvPr id="12" name="card-创新点（作者自述）"/>
          <p:cNvSpPr/>
          <p:nvPr/>
        </p:nvSpPr>
        <p:spPr>
          <a:xfrm>
            <a:off x="457200" y="27432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</p:spPr>
      </p:sp>
      <p:sp>
        <p:nvSpPr>
          <p:cNvPr id="13" name="Shape 10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98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创新点（作者自述）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9260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首次给出伊朗沉降区垂向 + 东西向速度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用角变形与水平应变评估风险、识别未填图构造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首次近全国尺度 InSAR 时序 ICA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揭示干旱期弹性/非弹性比下降</a:t>
            </a:r>
            <a:endParaRPr lang="en-US" sz="1600" dirty="0"/>
          </a:p>
        </p:txBody>
      </p:sp>
      <p:sp>
        <p:nvSpPr>
          <p:cNvPr id="17" name="card-研究结果"/>
          <p:cNvSpPr/>
          <p:nvPr/>
        </p:nvSpPr>
        <p:spPr>
          <a:xfrm>
            <a:off x="4023360" y="2743200"/>
            <a:ext cx="4325112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</p:spPr>
      </p:sp>
      <p:sp>
        <p:nvSpPr>
          <p:cNvPr id="18" name="Shape 14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9809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89864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研究结果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3383280"/>
            <a:ext cx="3959352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约 77% 的 &gt;10 mm/yr 沉降位于农田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51,500 人暴露于高角变形；卡拉季 &gt;23,600 人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59 个 frame 均识别出非弹性成分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西德黑兰平原线性角变形特征指示未填图断层</a:t>
            </a:r>
            <a:endParaRPr lang="en-US" sz="1600" dirty="0"/>
          </a:p>
        </p:txBody>
      </p:sp>
      <p:sp>
        <p:nvSpPr>
          <p:cNvPr id="22" name="card-局限 / 假设（作者承认）"/>
          <p:cNvSpPr/>
          <p:nvPr/>
        </p:nvSpPr>
        <p:spPr>
          <a:xfrm>
            <a:off x="8622792" y="274320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2"/>
          </a:solidFill>
        </p:spPr>
      </p:sp>
      <p:sp>
        <p:nvSpPr>
          <p:cNvPr id="23" name="Shape 18"/>
          <p:cNvSpPr/>
          <p:nvPr/>
        </p:nvSpPr>
        <p:spPr>
          <a:xfrm>
            <a:off x="8805672" y="289864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980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8592" y="28986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局限 / 假设（作者承认）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805672" y="3383280"/>
            <a:ext cx="274320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缺少井数据，以降水作弹性成分参照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残余地形相关大气混入 ICA 季节成分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东西向噪声可达约 10 mm/yr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风险以人口为代理，不含无人基础设施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盐地抬升机理仍为假说</a:t>
            </a:r>
            <a:endParaRPr lang="en-US" sz="1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⑨ 爪哇岛：地面沉降及其对相对海平面的贡献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概况 1/2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058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Land subsidence on Java Island and its contributions to relative sea level change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期刊  </a:t>
            </a:r>
            <a:r>
              <a:rPr lang="en-US" sz="1300" b="1" dirty="0">
                <a:solidFill>
                  <a:schemeClr val="tx2"/>
                </a:solidFill>
              </a:rPr>
              <a:t>Science Advances · 12(15), eaec0172 · 2026</a:t>
            </a:r>
            <a:endParaRPr lang="en-US" sz="1200" dirty="0"/>
          </a:p>
        </p:txBody>
      </p:sp>
      <p:sp>
        <p:nvSpPr>
          <p:cNvPr id="9" name="card-研究区域"/>
          <p:cNvSpPr/>
          <p:nvPr/>
        </p:nvSpPr>
        <p:spPr>
          <a:xfrm>
            <a:off x="45720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16712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研究区域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65176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印尼爪哇岛，约 1.5 亿人；北岸约 1500 km 低洼经济走廊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爪哇海 2000 年以来海平面上升约 5–6 mm/yr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印尼在 IPCC AR6 所用验潮站中缺乏代表</a:t>
            </a:r>
            <a:endParaRPr lang="en-US" sz="1400" dirty="0"/>
          </a:p>
        </p:txBody>
      </p:sp>
      <p:sp>
        <p:nvSpPr>
          <p:cNvPr id="14" name="card-研究数据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23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416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研究数据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Sentinel-1：</a:t>
            </a:r>
            <a:r>
              <a:rPr lang="en-US" sz="1400" dirty="0">
                <a:solidFill>
                  <a:schemeClr val="tx1"/>
                </a:solidFill>
              </a:rPr>
              <a:t>约 4000 景，10 升 + 11 降 frame，2017–2023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GNSS：</a:t>
            </a:r>
            <a:r>
              <a:rPr lang="en-US" sz="1400" dirty="0">
                <a:solidFill>
                  <a:schemeClr val="tx1"/>
                </a:solidFill>
              </a:rPr>
              <a:t>28 站（10 站定框架、26 站验证）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ALOS-1：</a:t>
            </a:r>
            <a:r>
              <a:rPr lang="en-US" sz="1400" dirty="0">
                <a:solidFill>
                  <a:schemeClr val="tx1"/>
                </a:solidFill>
              </a:rPr>
              <a:t>2007–2010 年 L 波段 VLM（长期对比）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海平面：</a:t>
            </a:r>
            <a:r>
              <a:rPr lang="en-US" sz="1400" dirty="0">
                <a:solidFill>
                  <a:schemeClr val="tx1"/>
                </a:solidFill>
              </a:rPr>
              <a:t>CMEMS 测高 2001–2024；FACTS 五种 SSP 投影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辅助：</a:t>
            </a:r>
            <a:r>
              <a:rPr lang="en-US" sz="1400" dirty="0">
                <a:solidFill>
                  <a:schemeClr val="tx1"/>
                </a:solidFill>
              </a:rPr>
              <a:t>人口、VIIRS 洪水、地质、土地覆盖</a:t>
            </a:r>
            <a:endParaRPr lang="en-US" sz="1400" dirty="0"/>
          </a:p>
        </p:txBody>
      </p:sp>
      <p:sp>
        <p:nvSpPr>
          <p:cNvPr id="19" name="card-研究方法"/>
          <p:cNvSpPr/>
          <p:nvPr/>
        </p:nvSpPr>
        <p:spPr>
          <a:xfrm>
            <a:off x="6217920" y="201168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49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研究方法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2651760"/>
            <a:ext cx="514807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WabInSAR：</a:t>
            </a:r>
            <a:r>
              <a:rPr lang="en-US" sz="1500" dirty="0">
                <a:solidFill>
                  <a:schemeClr val="tx1"/>
                </a:solidFill>
              </a:rPr>
              <a:t>75 m，升降轨分解垂向/东西向，转 IGS14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时间趋势：</a:t>
            </a:r>
            <a:r>
              <a:rPr lang="en-US" sz="1500" dirty="0">
                <a:solidFill>
                  <a:schemeClr val="tx1"/>
                </a:solidFill>
              </a:rPr>
              <a:t>二次多项式 + t 检验分加速/减速/线性；与 ALOS-1 比较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混合聚类：</a:t>
            </a:r>
            <a:r>
              <a:rPr lang="en-US" sz="1500" dirty="0">
                <a:solidFill>
                  <a:schemeClr val="tx1"/>
                </a:solidFill>
              </a:rPr>
              <a:t>PCA → k-means（K=7）→ DBSCAN → 多变量 DTW + 层次聚类 → 事后归因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虚拟验潮站：</a:t>
            </a:r>
            <a:r>
              <a:rPr lang="en-US" sz="1500" dirty="0">
                <a:solidFill>
                  <a:schemeClr val="tx1"/>
                </a:solidFill>
              </a:rPr>
              <a:t>北岸每 5 km，测高 + VLM → RSL，FACTS 投影至 2050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⑨ 爪哇岛：地面沉降及其对相对海平面的贡献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 2/2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7" name="Text 4"/>
          <p:cNvSpPr txBox="1"/>
          <p:nvPr/>
        </p:nvSpPr>
        <p:spPr>
          <a:xfrm>
            <a:off x="658368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1–15 cm/yr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多个沿海城市每年下沉 1–15 cm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包括雅加达、三宝垄、Pekalongan 等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9" name="Text 6"/>
          <p:cNvSpPr txBox="1"/>
          <p:nvPr/>
        </p:nvSpPr>
        <p:spPr>
          <a:xfrm>
            <a:off x="4507992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&gt; 75%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到 2050 年，超过 75% 的北岸海岸段仍以地面下沉为相对海平面上升主因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下沉贡献 27–85%，超过冰川、冰盖等因素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11" name="Text 8"/>
          <p:cNvSpPr txBox="1"/>
          <p:nvPr/>
        </p:nvSpPr>
        <p:spPr>
          <a:xfrm>
            <a:off x="8357616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0.83–0.96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InSAR 与 26 个 GNSS 站的相关系数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两者差值均值仅 0.1 cm/yr</a:t>
            </a:r>
            <a:endParaRPr lang="en-US" sz="2400" dirty="0"/>
          </a:p>
        </p:txBody>
      </p:sp>
      <p:sp>
        <p:nvSpPr>
          <p:cNvPr id="12" name="card-创新点（作者自述）"/>
          <p:cNvSpPr/>
          <p:nvPr/>
        </p:nvSpPr>
        <p:spPr>
          <a:xfrm>
            <a:off x="457200" y="27432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</p:spPr>
      </p:sp>
      <p:sp>
        <p:nvSpPr>
          <p:cNvPr id="13" name="Shape 10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98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创新点（作者自述）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9260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全岛尺度沉降评估及对北岸 RSL 的贡献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“基于过程”的驱动解释，转向灾害演变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 km 间隔虚拟验潮站，适用于缺站区</a:t>
            </a:r>
            <a:endParaRPr lang="en-US" sz="1600" dirty="0"/>
          </a:p>
        </p:txBody>
      </p:sp>
      <p:sp>
        <p:nvSpPr>
          <p:cNvPr id="17" name="card-研究结果"/>
          <p:cNvSpPr/>
          <p:nvPr/>
        </p:nvSpPr>
        <p:spPr>
          <a:xfrm>
            <a:off x="4023360" y="2743200"/>
            <a:ext cx="4325112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</p:spPr>
      </p:sp>
      <p:sp>
        <p:nvSpPr>
          <p:cNvPr id="18" name="Shape 14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9809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89864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研究结果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3383280"/>
            <a:ext cx="3959352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2017–2023：17% 沉降区加速、45% 减速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较 ALOS-1：13% 转为快速沉降、22% 减缓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6 组时间模式：沿海冲积、三角洲、住宅、工业、农业、泥火山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当前 RSL 上升均值 1.7 cm/yr；2050 年为仅海平面上升的 2–10 倍</a:t>
            </a:r>
            <a:endParaRPr lang="en-US" sz="1600" dirty="0"/>
          </a:p>
        </p:txBody>
      </p:sp>
      <p:sp>
        <p:nvSpPr>
          <p:cNvPr id="22" name="card-局限 / 假设（作者承认）"/>
          <p:cNvSpPr/>
          <p:nvPr/>
        </p:nvSpPr>
        <p:spPr>
          <a:xfrm>
            <a:off x="8622792" y="274320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2"/>
          </a:solidFill>
        </p:spPr>
      </p:sp>
      <p:sp>
        <p:nvSpPr>
          <p:cNvPr id="23" name="Shape 18"/>
          <p:cNvSpPr/>
          <p:nvPr/>
        </p:nvSpPr>
        <p:spPr>
          <a:xfrm>
            <a:off x="8805672" y="289864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980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8592" y="28986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局限 / 假设（作者承认）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805672" y="3383280"/>
            <a:ext cx="274320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地下水、压实、构造贡献无法完全区分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虚拟验潮站假设 VLM 恒定，可能低估 RSL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近岸测高不确定性大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投影假设沉降平稳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验证 GNSS 含定框架站</a:t>
            </a:r>
            <a:endParaRPr lang="en-US" sz="1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⑩ 全球 40 个河流三角洲沉降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概况 1/2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058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Global subsidence of river deltas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期刊  </a:t>
            </a:r>
            <a:r>
              <a:rPr lang="en-US" sz="1300" b="1" dirty="0">
                <a:solidFill>
                  <a:schemeClr val="tx2"/>
                </a:solidFill>
              </a:rPr>
              <a:t>Nature · 649, 894–900 · 2026</a:t>
            </a:r>
            <a:endParaRPr lang="en-US" sz="1200" dirty="0"/>
          </a:p>
        </p:txBody>
      </p:sp>
      <p:sp>
        <p:nvSpPr>
          <p:cNvPr id="9" name="card-研究区域"/>
          <p:cNvSpPr/>
          <p:nvPr/>
        </p:nvSpPr>
        <p:spPr>
          <a:xfrm>
            <a:off x="45720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16712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研究区域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65176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全球 40 个三角洲，5 大洲 29 国（亚洲 17、非洲 9、欧洲 7、北美 4、南美 3）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按低于海平面面积与人口暴露选 35 个，另补 5 个区域重要三角洲</a:t>
            </a:r>
            <a:endParaRPr lang="en-US" sz="1400" dirty="0"/>
          </a:p>
        </p:txBody>
      </p:sp>
      <p:sp>
        <p:nvSpPr>
          <p:cNvPr id="14" name="card-研究数据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23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416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研究数据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Sentinel-1：</a:t>
            </a:r>
            <a:r>
              <a:rPr lang="en-US" sz="1400" dirty="0">
                <a:solidFill>
                  <a:schemeClr val="tx1"/>
                </a:solidFill>
              </a:rPr>
              <a:t>132 个 frame，2016-09～2023-05；单轨 3,300 景 + 双轨 10,700 景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GNSS 与 GIA：</a:t>
            </a:r>
            <a:r>
              <a:rPr lang="en-US" sz="1400" dirty="0">
                <a:solidFill>
                  <a:schemeClr val="tx1"/>
                </a:solidFill>
              </a:rPr>
              <a:t>转换至 IGS14 并验证；扣除 GIA 模型均值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驱动：</a:t>
            </a:r>
            <a:r>
              <a:rPr lang="en-US" sz="1400" dirty="0">
                <a:solidFill>
                  <a:schemeClr val="tx1"/>
                </a:solidFill>
              </a:rPr>
              <a:t>GRACE/GRACE-FO 地下水储量、沉积物通量变化、城市扩张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海平面与社会：</a:t>
            </a:r>
            <a:r>
              <a:rPr lang="en-US" sz="1400" dirty="0">
                <a:solidFill>
                  <a:schemeClr val="tx1"/>
                </a:solidFill>
              </a:rPr>
              <a:t>验潮站、CMEMS、AR6 SSP；ND-GAIN；WorldPop</a:t>
            </a:r>
            <a:endParaRPr lang="en-US" sz="1400" dirty="0"/>
          </a:p>
        </p:txBody>
      </p:sp>
      <p:sp>
        <p:nvSpPr>
          <p:cNvPr id="19" name="card-研究方法"/>
          <p:cNvSpPr/>
          <p:nvPr/>
        </p:nvSpPr>
        <p:spPr>
          <a:xfrm>
            <a:off x="6217920" y="201168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49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研究方法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2651760"/>
            <a:ext cx="514807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WabInSAR：</a:t>
            </a:r>
            <a:r>
              <a:rPr lang="en-US" sz="1500" dirty="0">
                <a:solidFill>
                  <a:schemeClr val="tx1"/>
                </a:solidFill>
              </a:rPr>
              <a:t>75 m，约 55,000 幅干涉图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分量与框架：</a:t>
            </a:r>
            <a:r>
              <a:rPr lang="en-US" sz="1500" dirty="0">
                <a:solidFill>
                  <a:schemeClr val="tx1"/>
                </a:solidFill>
              </a:rPr>
              <a:t>27 个三角洲升降轨分解垂向；13 个单轨用 LOS/cosθ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驱动回归：</a:t>
            </a:r>
            <a:r>
              <a:rPr lang="en-US" sz="1500" dirty="0">
                <a:solidFill>
                  <a:schemeClr val="tx1"/>
                </a:solidFill>
              </a:rPr>
              <a:t>MLR → 随机森林（5 折 CV、蒙特卡洛）+ LIME 局部解释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海平面比较：</a:t>
            </a:r>
            <a:r>
              <a:rPr lang="en-US" sz="1500" dirty="0">
                <a:solidFill>
                  <a:schemeClr val="tx1"/>
                </a:solidFill>
              </a:rPr>
              <a:t>对比地心海平面与 AR6 投影；RSLR × ND-GAIN 四象限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⑩ 全球 40 个河流三角洲沉降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 2/2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7" name="Text 4"/>
          <p:cNvSpPr txBox="1"/>
          <p:nvPr/>
        </p:nvSpPr>
        <p:spPr>
          <a:xfrm>
            <a:off x="658368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18 / 40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40 个三角洲中，18 个的下沉速度快于当地海平面上升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对这些三角洲，地面下沉比海水上涨更要紧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9" name="Text 6"/>
          <p:cNvSpPr txBox="1"/>
          <p:nvPr/>
        </p:nvSpPr>
        <p:spPr>
          <a:xfrm>
            <a:off x="4507992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460,370 km²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正在下沉的三角洲总面积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约占全球可居住三角洲面积的 54–65%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11" name="Text 8"/>
          <p:cNvSpPr txBox="1"/>
          <p:nvPr/>
        </p:nvSpPr>
        <p:spPr>
          <a:xfrm>
            <a:off x="8357616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26 / 40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26 个三角洲相对海平面上升快，但应对准备不足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作者称之为 “Unprepared Divers”，占 65%</a:t>
            </a:r>
            <a:endParaRPr lang="en-US" sz="2400" dirty="0"/>
          </a:p>
        </p:txBody>
      </p:sp>
      <p:sp>
        <p:nvSpPr>
          <p:cNvPr id="12" name="card-创新点（作者自述）"/>
          <p:cNvSpPr/>
          <p:nvPr/>
        </p:nvSpPr>
        <p:spPr>
          <a:xfrm>
            <a:off x="457200" y="27432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</p:spPr>
      </p:sp>
      <p:sp>
        <p:nvSpPr>
          <p:cNvPr id="13" name="Shape 10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98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创新点（作者自述）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9260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75 m、全三角洲覆盖（含农村与生态区）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RF + LIME 量化三类人为驱动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沉降与海平面直接比较 + 适应能力矩阵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主张统一参考框架（IGS14）</a:t>
            </a:r>
            <a:endParaRPr lang="en-US" sz="1600" dirty="0"/>
          </a:p>
        </p:txBody>
      </p:sp>
      <p:sp>
        <p:nvSpPr>
          <p:cNvPr id="17" name="card-研究结果"/>
          <p:cNvSpPr/>
          <p:nvPr/>
        </p:nvSpPr>
        <p:spPr>
          <a:xfrm>
            <a:off x="4023360" y="2743200"/>
            <a:ext cx="4325112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</p:spPr>
      </p:sp>
      <p:sp>
        <p:nvSpPr>
          <p:cNvPr id="18" name="Shape 14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9809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89864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研究结果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3383280"/>
            <a:ext cx="3959352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全部三角洲平均为沉降；13 个超过约 4 mm/yr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RF R²＝0.6±0.1；nLIME：地下水 0.6、沉积物 0.3、城市化 0.1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SSP2-4.5：40 个三角洲当前最大沉降速率均超过投影海平面上升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与 GNSS 相关 0.7–0.8，RMSE 1.4 mm/yr</a:t>
            </a:r>
            <a:endParaRPr lang="en-US" sz="1600" dirty="0"/>
          </a:p>
        </p:txBody>
      </p:sp>
      <p:sp>
        <p:nvSpPr>
          <p:cNvPr id="22" name="card-局限 / 假设（作者承认）"/>
          <p:cNvSpPr/>
          <p:nvPr/>
        </p:nvSpPr>
        <p:spPr>
          <a:xfrm>
            <a:off x="8622792" y="274320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2"/>
          </a:solidFill>
        </p:spPr>
      </p:sp>
      <p:sp>
        <p:nvSpPr>
          <p:cNvPr id="23" name="Shape 18"/>
          <p:cNvSpPr/>
          <p:nvPr/>
        </p:nvSpPr>
        <p:spPr>
          <a:xfrm>
            <a:off x="8805672" y="289864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980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8592" y="28986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局限 / 假设（作者承认）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805672" y="3383280"/>
            <a:ext cx="274320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GRACE 分辨率 300–400 km，存在信号泄漏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沉积物通量仅为相对变化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未分离压实、构造、油气等过程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RF 依赖样本组成；40 个三角洲不具全球代表性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单轨“垂向为主”假设“tenuous”</a:t>
            </a:r>
            <a:endParaRPr lang="en-US" sz="1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⑪ 湄公河三角洲：干旱诱发的地面沉降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概况 1/2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058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Drought-Induced Land Subsidence in the Mekong Delta, Vietnam: Insights From SAR Interferometry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期刊  </a:t>
            </a:r>
            <a:r>
              <a:rPr lang="en-US" sz="1300" b="1" dirty="0">
                <a:solidFill>
                  <a:schemeClr val="tx2"/>
                </a:solidFill>
              </a:rPr>
              <a:t>Geophysical Research Letters · 52, e2025GL117096 · 2025</a:t>
            </a:r>
            <a:endParaRPr lang="en-US" sz="1200" dirty="0"/>
          </a:p>
        </p:txBody>
      </p:sp>
      <p:sp>
        <p:nvSpPr>
          <p:cNvPr id="9" name="card-研究区域"/>
          <p:cNvSpPr/>
          <p:nvPr/>
        </p:nvSpPr>
        <p:spPr>
          <a:xfrm>
            <a:off x="45720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16712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研究区域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65176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越南湄公河三角洲 Hau 河西南侧，平均高程约 0.8 m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热带季风；2016、2020 年为最极端干旱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三类地表水管理区：I 淡水（水闸）、II 雨养淡水、III 咸/半咸水</a:t>
            </a:r>
            <a:endParaRPr lang="en-US" sz="1400" dirty="0"/>
          </a:p>
        </p:txBody>
      </p:sp>
      <p:sp>
        <p:nvSpPr>
          <p:cNvPr id="14" name="card-研究数据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23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416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研究数据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Sentinel-1 PS-InSAR：</a:t>
            </a:r>
            <a:r>
              <a:rPr lang="en-US" sz="1400" dirty="0">
                <a:solidFill>
                  <a:schemeClr val="tx1"/>
                </a:solidFill>
              </a:rPr>
              <a:t>降轨时序，2017-04～2022-04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干旱与降水：</a:t>
            </a:r>
            <a:r>
              <a:rPr lang="en-US" sz="1400" dirty="0">
                <a:solidFill>
                  <a:schemeClr val="tx1"/>
                </a:solidFill>
              </a:rPr>
              <a:t>KBDI 干旱指数；ERA-5 Land 降水（GEE）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分区：</a:t>
            </a:r>
            <a:r>
              <a:rPr lang="en-US" sz="1400" dirty="0">
                <a:solidFill>
                  <a:schemeClr val="tx1"/>
                </a:solidFill>
              </a:rPr>
              <a:t>土地利用分类；地表水管理区（SWMZ）</a:t>
            </a:r>
            <a:endParaRPr lang="en-US" sz="1400" dirty="0"/>
          </a:p>
        </p:txBody>
      </p:sp>
      <p:sp>
        <p:nvSpPr>
          <p:cNvPr id="19" name="card-研究方法"/>
          <p:cNvSpPr/>
          <p:nvPr/>
        </p:nvSpPr>
        <p:spPr>
          <a:xfrm>
            <a:off x="6217920" y="201168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49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研究方法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2651760"/>
            <a:ext cx="514807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网格化：</a:t>
            </a:r>
            <a:r>
              <a:rPr lang="en-US" sz="1500" dirty="0">
                <a:solidFill>
                  <a:schemeClr val="tx1"/>
                </a:solidFill>
              </a:rPr>
              <a:t>1×1 km 网格取中位数时序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滤波：</a:t>
            </a:r>
            <a:r>
              <a:rPr lang="en-US" sz="1500" dirty="0">
                <a:solidFill>
                  <a:schemeClr val="tx1"/>
                </a:solidFill>
              </a:rPr>
              <a:t>Butterworth 低通（截止 2/yr）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去背景沉降：</a:t>
            </a:r>
            <a:r>
              <a:rPr lang="en-US" sz="1500" dirty="0">
                <a:solidFill>
                  <a:schemeClr val="tx1"/>
                </a:solidFill>
              </a:rPr>
              <a:t>迭代变点检测分段线性模型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季节位移预测：</a:t>
            </a:r>
            <a:r>
              <a:rPr lang="en-US" sz="1500" dirty="0">
                <a:solidFill>
                  <a:schemeClr val="tx1"/>
                </a:solidFill>
              </a:rPr>
              <a:t>降水率线性回归，参数只用干旱前时段估计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分段评估：</a:t>
            </a:r>
            <a:r>
              <a:rPr lang="en-US" sz="1500" dirty="0">
                <a:solidFill>
                  <a:schemeClr val="tx1"/>
                </a:solidFill>
              </a:rPr>
              <a:t>干旱前/中/后比较 R² 与下降量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⑪ 湄公河三角洲：干旱诱发的地面沉降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 2/2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7" name="Text 4"/>
          <p:cNvSpPr txBox="1"/>
          <p:nvPr/>
        </p:nvSpPr>
        <p:spPr>
          <a:xfrm>
            <a:off x="658368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70 mm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2020 年大旱几个月内，南部雨养区最多下沉 7 cm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受影响范围与 SWMZ II 管理区边界吻合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9" name="Text 6"/>
          <p:cNvSpPr txBox="1"/>
          <p:nvPr/>
        </p:nvSpPr>
        <p:spPr>
          <a:xfrm>
            <a:off x="4507992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35 mm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旱后雨季也没回弹的永久下降，最多 3.5 cm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作者认为是不可恢复的非弹性变形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11" name="Text 8"/>
          <p:cNvSpPr txBox="1"/>
          <p:nvPr/>
        </p:nvSpPr>
        <p:spPr>
          <a:xfrm>
            <a:off x="8357616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23 mm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雨养淡水区（SWMZ II）旱季沉降中位数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淡水区 SWMZ I 只有 7 mm，咸水区 SWMZ III 只有 8 mm</a:t>
            </a:r>
            <a:endParaRPr lang="en-US" sz="2400" dirty="0"/>
          </a:p>
        </p:txBody>
      </p:sp>
      <p:sp>
        <p:nvSpPr>
          <p:cNvPr id="12" name="card-创新点（作者自述）"/>
          <p:cNvSpPr/>
          <p:nvPr/>
        </p:nvSpPr>
        <p:spPr>
          <a:xfrm>
            <a:off x="457200" y="27432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</p:spPr>
      </p:sp>
      <p:sp>
        <p:nvSpPr>
          <p:cNvPr id="13" name="Shape 10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98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创新点（作者自述）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9260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揭示“迄今未知”的沉降驱动——严重干旱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三角洲尺度刻画干旱快速沉降，关联水管理区与土地利用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用降水预测检验系统是否偏离常态</a:t>
            </a:r>
            <a:endParaRPr lang="en-US" sz="1600" dirty="0"/>
          </a:p>
        </p:txBody>
      </p:sp>
      <p:sp>
        <p:nvSpPr>
          <p:cNvPr id="17" name="card-研究结果"/>
          <p:cNvSpPr/>
          <p:nvPr/>
        </p:nvSpPr>
        <p:spPr>
          <a:xfrm>
            <a:off x="4023360" y="2743200"/>
            <a:ext cx="4325112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</p:spPr>
      </p:sp>
      <p:sp>
        <p:nvSpPr>
          <p:cNvPr id="18" name="Shape 14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9809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89864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研究结果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3383280"/>
            <a:ext cx="3959352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季节沉降中位数：SWMZ II 23 mm，I 7 mm，III 8 mm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SWMZ I/III 雨季回弹补偿；SWMZ II 回弹不足中位数 10 mm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干旱后降水更多却无抬升 → 作者认为是非弹性沉降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南部 SWMZ II：可/不可预测下降均值 5.4/18.1 mm</a:t>
            </a:r>
            <a:endParaRPr lang="en-US" sz="1600" dirty="0"/>
          </a:p>
        </p:txBody>
      </p:sp>
      <p:sp>
        <p:nvSpPr>
          <p:cNvPr id="22" name="card-局限 / 假设（作者承认）"/>
          <p:cNvSpPr/>
          <p:nvPr/>
        </p:nvSpPr>
        <p:spPr>
          <a:xfrm>
            <a:off x="8622792" y="274320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2"/>
          </a:solidFill>
        </p:spPr>
      </p:sp>
      <p:sp>
        <p:nvSpPr>
          <p:cNvPr id="23" name="Shape 18"/>
          <p:cNvSpPr/>
          <p:nvPr/>
        </p:nvSpPr>
        <p:spPr>
          <a:xfrm>
            <a:off x="8805672" y="289864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980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8592" y="28986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局限 / 假设（作者承认）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805672" y="3383280"/>
            <a:ext cx="274320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PS 点多在建筑上，含荷载沉降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无法区分开采增加与土壤收缩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无法分离弹性/非弹性比例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需开采量、水头、土壤含水量与更长时序</a:t>
            </a:r>
            <a:endParaRPr lang="en-US" sz="1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2377440" y="22860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四、方法拓展：水库区滑坡</a:t>
            </a:r>
            <a:endParaRPr lang="en-US" sz="3600" dirty="0"/>
          </a:p>
        </p:txBody>
      </p:sp>
      <p:sp>
        <p:nvSpPr>
          <p:cNvPr id="4" name="Text 0"/>
          <p:cNvSpPr/>
          <p:nvPr>
            <p:ph type="body" idx="101" hasCustomPrompt="1"/>
          </p:nvPr>
        </p:nvSpPr>
        <p:spPr>
          <a:xfrm>
            <a:off x="2377440" y="34290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多几何 InSAR + 可解释机器学习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1188720" cy="11887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517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4343400"/>
            <a:ext cx="91440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⑫  白鹤滩水库区：多几何 InSAR + 可解释 ML 圈定潜在滑坡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⑫ 白鹤滩水库区：多几何 InSAR + 可解释 ML 圈定潜在滑坡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概况 1/2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058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Integrating multi-geometry InSAR and explainable machine learning for mapping potential landslide areas in reservoir regions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期刊  </a:t>
            </a:r>
            <a:r>
              <a:rPr lang="en-US" sz="1300" b="1" dirty="0">
                <a:solidFill>
                  <a:schemeClr val="tx2"/>
                </a:solidFill>
              </a:rPr>
              <a:t>Remote Sensing of Environment · 341, 115442 · 2026</a:t>
            </a:r>
            <a:endParaRPr lang="en-US" sz="1200" dirty="0"/>
          </a:p>
        </p:txBody>
      </p:sp>
      <p:sp>
        <p:nvSpPr>
          <p:cNvPr id="9" name="card-研究区域"/>
          <p:cNvSpPr/>
          <p:nvPr/>
        </p:nvSpPr>
        <p:spPr>
          <a:xfrm>
            <a:off x="457200" y="20116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494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216712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研究区域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651760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白鹤滩水库区，青藏高原东南缘，金沙江 V 形河谷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2021-04 蓄水，水位 765–825 m 波动，形成消落带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近南北向活动断裂；破碎玄武岩、软硬互层、第四系堆积</a:t>
            </a:r>
            <a:endParaRPr lang="en-US" sz="1400" dirty="0"/>
          </a:p>
        </p:txBody>
      </p:sp>
      <p:sp>
        <p:nvSpPr>
          <p:cNvPr id="14" name="card-研究数据"/>
          <p:cNvSpPr/>
          <p:nvPr/>
        </p:nvSpPr>
        <p:spPr>
          <a:xfrm>
            <a:off x="457200" y="388620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1239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416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研究数据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52628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Sentinel-1：</a:t>
            </a:r>
            <a:r>
              <a:rPr lang="en-US" sz="1400" dirty="0">
                <a:solidFill>
                  <a:schemeClr val="tx1"/>
                </a:solidFill>
              </a:rPr>
              <a:t>升轨 T26 + 降轨 T62，103 景，2020-01～2023-05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滑坡编目：</a:t>
            </a:r>
            <a:r>
              <a:rPr lang="en-US" sz="1400" dirty="0">
                <a:solidFill>
                  <a:schemeClr val="tx1"/>
                </a:solidFill>
              </a:rPr>
              <a:t>74 处（建模 59 + 独立验证 15）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孕灾因子：</a:t>
            </a:r>
            <a:r>
              <a:rPr lang="en-US" sz="1400" dirty="0">
                <a:solidFill>
                  <a:schemeClr val="tx1"/>
                </a:solidFill>
              </a:rPr>
              <a:t>DEM、地质、NDVI、水系、道路、降雨等 12 个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验证：</a:t>
            </a:r>
            <a:r>
              <a:rPr lang="en-US" sz="1400" dirty="0">
                <a:solidFill>
                  <a:schemeClr val="tx1"/>
                </a:solidFill>
              </a:rPr>
              <a:t>UAV 正射、机载 LiDAR、GNSS 监测</a:t>
            </a:r>
            <a:endParaRPr lang="en-US" sz="1400" dirty="0"/>
          </a:p>
        </p:txBody>
      </p:sp>
      <p:sp>
        <p:nvSpPr>
          <p:cNvPr id="19" name="card-研究方法"/>
          <p:cNvSpPr/>
          <p:nvPr/>
        </p:nvSpPr>
        <p:spPr>
          <a:xfrm>
            <a:off x="6217920" y="201168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216712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4942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研究方法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2651760"/>
            <a:ext cx="5148072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SBAS-InSAR：</a:t>
            </a:r>
            <a:r>
              <a:rPr lang="en-US" sz="1500" dirty="0">
                <a:solidFill>
                  <a:schemeClr val="tx1"/>
                </a:solidFill>
              </a:rPr>
              <a:t>升降轨分解垂直与东西向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负样本优化：</a:t>
            </a:r>
            <a:r>
              <a:rPr lang="en-US" sz="1500" dirty="0">
                <a:solidFill>
                  <a:schemeClr val="tx1"/>
                </a:solidFill>
              </a:rPr>
              <a:t>InSAR 法 vs 信息量法（IVM）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易发性建模：</a:t>
            </a:r>
            <a:r>
              <a:rPr lang="en-US" sz="1500" dirty="0">
                <a:solidFill>
                  <a:schemeClr val="tx1"/>
                </a:solidFill>
              </a:rPr>
              <a:t>DT / RF / GBDT，共 6 个模型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列联矩阵：</a:t>
            </a:r>
            <a:r>
              <a:rPr lang="en-US" sz="1500" dirty="0">
                <a:solidFill>
                  <a:schemeClr val="tx1"/>
                </a:solidFill>
              </a:rPr>
              <a:t>易发性 S1–S5 × 形变 V1–V5 圈定潜在滑坡区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chemeClr val="tx2"/>
                </a:solidFill>
              </a:rPr>
              <a:t>SHAP 解释：</a:t>
            </a:r>
            <a:r>
              <a:rPr lang="en-US" sz="1500" dirty="0">
                <a:solidFill>
                  <a:schemeClr val="tx1"/>
                </a:solidFill>
              </a:rPr>
              <a:t>结合野外、UAV、LiDAR 验证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⑫ 白鹤滩水库区：多几何 InSAR + 可解释 ML 圈定潜在滑坡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51592" y="347472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10451592" y="3474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 2/2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7" name="Text 4"/>
          <p:cNvSpPr txBox="1"/>
          <p:nvPr/>
        </p:nvSpPr>
        <p:spPr>
          <a:xfrm>
            <a:off x="658368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0.866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6 个模型中最好的 RF-IVM，AUC 为 0.866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用 IVM 选负样本，比用 InSAR 选高 0.052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06824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9" name="Text 6"/>
          <p:cNvSpPr txBox="1"/>
          <p:nvPr/>
        </p:nvSpPr>
        <p:spPr>
          <a:xfrm>
            <a:off x="4507992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7.29 vs 1.76 km²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圈出的潜在滑坡区与已核实滑坡的重叠面积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列联矩阵法是阈值法的四倍多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156448" y="960120"/>
            <a:ext cx="3575304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</p:spPr>
      </p:sp>
      <p:sp>
        <p:nvSpPr>
          <p:cNvPr id="11" name="Text 8"/>
          <p:cNvSpPr txBox="1"/>
          <p:nvPr/>
        </p:nvSpPr>
        <p:spPr>
          <a:xfrm>
            <a:off x="8357616" y="1005840"/>
            <a:ext cx="3172968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chemeClr val="accent6"/>
                </a:solidFill>
              </a:rPr>
              <a:t>90.5%</a:t>
            </a:r>
            <a:endParaRPr lang="en-US" sz="2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74 处已知滑坡中识别出 67 处</a:t>
            </a:r>
            <a:endParaRPr lang="en-US" sz="2400" dirty="0"/>
          </a:p>
          <a:p>
            <a:pPr marL="0" indent="0">
              <a:buNone/>
            </a:pPr>
            <a:r>
              <a:rPr lang="en-US" sz="1200" dirty="0">
                <a:solidFill>
                  <a:srgbClr val="C9D3D7"/>
                </a:solidFill>
              </a:rPr>
              <a:t>阈值法只识别出 44 处（59.4%）</a:t>
            </a:r>
            <a:endParaRPr lang="en-US" sz="2400" dirty="0"/>
          </a:p>
        </p:txBody>
      </p:sp>
      <p:sp>
        <p:nvSpPr>
          <p:cNvPr id="12" name="card-创新点（作者自述）"/>
          <p:cNvSpPr/>
          <p:nvPr/>
        </p:nvSpPr>
        <p:spPr>
          <a:xfrm>
            <a:off x="457200" y="274320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bg2"/>
          </a:solidFill>
        </p:spPr>
      </p:sp>
      <p:sp>
        <p:nvSpPr>
          <p:cNvPr id="13" name="Shape 10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98094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98648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创新点（作者自述）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383280"/>
            <a:ext cx="292608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负样本优化降低建模噪声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多几何 InSAR 运动学重建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列联矩阵耦合静态易发性与动态形变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易发性与形变视为互补指标</a:t>
            </a:r>
            <a:endParaRPr lang="en-US" sz="1600" dirty="0"/>
          </a:p>
        </p:txBody>
      </p:sp>
      <p:sp>
        <p:nvSpPr>
          <p:cNvPr id="17" name="card-研究结果"/>
          <p:cNvSpPr/>
          <p:nvPr/>
        </p:nvSpPr>
        <p:spPr>
          <a:xfrm>
            <a:off x="4023360" y="2743200"/>
            <a:ext cx="4325112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</p:spPr>
      </p:sp>
      <p:sp>
        <p:nvSpPr>
          <p:cNvPr id="18" name="Shape 14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98094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89864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研究结果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206240" y="3383280"/>
            <a:ext cx="3959352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IVM 采样优于 InSAR 采样：ΔAUC RF +0.052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矩阵法召回 90.50%，阈值法 59.40%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垂直沉降最大 −93 mm/yr；Wulipo 滑坡为旋转—平移运动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SHAP：离河距离居首，&lt;500 m 贡献高</a:t>
            </a:r>
            <a:endParaRPr lang="en-US" sz="1600" dirty="0"/>
          </a:p>
        </p:txBody>
      </p:sp>
      <p:sp>
        <p:nvSpPr>
          <p:cNvPr id="22" name="card-局限 / 假设（作者承认）"/>
          <p:cNvSpPr/>
          <p:nvPr/>
        </p:nvSpPr>
        <p:spPr>
          <a:xfrm>
            <a:off x="8622792" y="274320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bg2"/>
          </a:solidFill>
        </p:spPr>
      </p:sp>
      <p:sp>
        <p:nvSpPr>
          <p:cNvPr id="23" name="Shape 18"/>
          <p:cNvSpPr/>
          <p:nvPr/>
        </p:nvSpPr>
        <p:spPr>
          <a:xfrm>
            <a:off x="8805672" y="289864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98094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8592" y="28986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局限 / 假设（作者承认）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805672" y="3383280"/>
            <a:ext cx="274320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优化采样引入空间先验，可能边界过拟合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InSAR 采样受阴影、叠掩影响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SHAP 只反映固定阶段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30 m 格网与 C 波段可能漏检小滑坡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推广到其他水库区尚待检验</a:t>
            </a:r>
            <a:endParaRPr lang="en-US" sz="1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56032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横向对比：12 篇论文的共性</a:t>
            </a:r>
            <a:endParaRPr lang="en-US" sz="2600" dirty="0"/>
          </a:p>
        </p:txBody>
      </p:sp>
      <p:sp>
        <p:nvSpPr>
          <p:cNvPr id="4" name="card-拼接与宽域平差"/>
          <p:cNvSpPr/>
          <p:nvPr/>
        </p:nvSpPr>
        <p:spPr>
          <a:xfrm>
            <a:off x="457200" y="1051560"/>
            <a:ext cx="551383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</p:spPr>
      </p:sp>
      <p:sp>
        <p:nvSpPr>
          <p:cNvPr id="5" name="Shape 2"/>
          <p:cNvSpPr/>
          <p:nvPr/>
        </p:nvSpPr>
        <p:spPr>
          <a:xfrm>
            <a:off x="640080" y="120700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289304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20700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拼接与宽域平差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691640"/>
            <a:ext cx="5148072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①②③⑥⑦ 都针对多轨/多 frame 拼接提出方案</a:t>
            </a:r>
            <a:endParaRPr lang="en-US" sz="18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网络平差、伪逆求改正、K 折选模、区域网平差</a:t>
            </a:r>
            <a:endParaRPr lang="en-US" sz="1800" dirty="0"/>
          </a:p>
        </p:txBody>
      </p:sp>
      <p:sp>
        <p:nvSpPr>
          <p:cNvPr id="9" name="card-LOS → 垂向的处理"/>
          <p:cNvSpPr/>
          <p:nvPr/>
        </p:nvSpPr>
        <p:spPr>
          <a:xfrm>
            <a:off x="6217920" y="1051560"/>
            <a:ext cx="551383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</p:spPr>
      </p:sp>
      <p:sp>
        <p:nvSpPr>
          <p:cNvPr id="10" name="Shape 6"/>
          <p:cNvSpPr/>
          <p:nvPr/>
        </p:nvSpPr>
        <p:spPr>
          <a:xfrm>
            <a:off x="6400800" y="120700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28930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03720" y="120700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LOS → 垂向的处理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1691640"/>
            <a:ext cx="5148072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①②⑤⑥ 假设水平形变可忽略；⑩ 单轨同样假设</a:t>
            </a:r>
            <a:endParaRPr lang="en-US" sz="18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③ 用板块运动模型；⑧⑨⑩ 用升降轨分解</a:t>
            </a:r>
            <a:endParaRPr lang="en-US" sz="1800" dirty="0"/>
          </a:p>
        </p:txBody>
      </p:sp>
      <p:sp>
        <p:nvSpPr>
          <p:cNvPr id="14" name="card-驱动归因"/>
          <p:cNvSpPr/>
          <p:nvPr/>
        </p:nvSpPr>
        <p:spPr>
          <a:xfrm>
            <a:off x="457200" y="3657600"/>
            <a:ext cx="551383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</p:spPr>
      </p:sp>
      <p:sp>
        <p:nvSpPr>
          <p:cNvPr id="15" name="Shape 10"/>
          <p:cNvSpPr/>
          <p:nvPr/>
        </p:nvSpPr>
        <p:spPr>
          <a:xfrm>
            <a:off x="640080" y="381304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8953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81304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驱动归因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297680"/>
            <a:ext cx="5148072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地下水开采在 ①–④、⑦–⑩ 中被视为主要驱动；⑪ 指向干旱</a:t>
            </a:r>
            <a:endParaRPr lang="en-US" sz="18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⑤⑥ 另有软土固结、填海荷载、卤水与采矿</a:t>
            </a:r>
            <a:endParaRPr lang="en-US" sz="1800" dirty="0"/>
          </a:p>
        </p:txBody>
      </p:sp>
      <p:sp>
        <p:nvSpPr>
          <p:cNvPr id="19" name="card-弹性 vs 非弹性"/>
          <p:cNvSpPr/>
          <p:nvPr/>
        </p:nvSpPr>
        <p:spPr>
          <a:xfrm>
            <a:off x="6217920" y="3657600"/>
            <a:ext cx="5513832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</p:spPr>
      </p:sp>
      <p:sp>
        <p:nvSpPr>
          <p:cNvPr id="20" name="Shape 14"/>
          <p:cNvSpPr/>
          <p:nvPr/>
        </p:nvSpPr>
        <p:spPr>
          <a:xfrm>
            <a:off x="6400800" y="381304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389534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03720" y="381304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弹性 vs 非弹性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4297680"/>
            <a:ext cx="5148072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② Ske、⑧ ICA、⑪ 未补偿下降都指向不可逆压密</a:t>
            </a:r>
            <a:endParaRPr lang="en-US" sz="18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多篇水位数据短于 InSAR 时序（①⑥ 等）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309360" y="647395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3"/>
                </a:solidFill>
              </a:rPr>
              <a:t>注：本页为基于各篇笔记的归纳，非论文原文结论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谢谢 · 欢迎讨论</a:t>
            </a:r>
            <a:endParaRPr lang="en-US" sz="4000" dirty="0"/>
          </a:p>
        </p:txBody>
      </p:sp>
      <p:sp>
        <p:nvSpPr>
          <p:cNvPr id="4" name="Text 0"/>
          <p:cNvSpPr/>
          <p:nvPr>
            <p:ph type="body" idx="101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问题与建议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bsidence Review">
  <a:themeElements>
    <a:clrScheme name="Subsidence Review">
      <a:dk1>
        <a:srgbClr val="1E2A30"/>
      </a:dk1>
      <a:lt1>
        <a:srgbClr val="FFFFFF"/>
      </a:lt1>
      <a:dk2>
        <a:srgbClr val="23404A"/>
      </a:dk2>
      <a:lt2>
        <a:srgbClr val="EEF2F3"/>
      </a:lt2>
      <a:accent1>
        <a:srgbClr val="C8702E"/>
      </a:accent1>
      <a:accent2>
        <a:srgbClr val="3E7C87"/>
      </a:accent2>
      <a:accent3>
        <a:srgbClr val="8A9BA3"/>
      </a:accent3>
      <a:accent4>
        <a:srgbClr val="A9473A"/>
      </a:accent4>
      <a:accent5>
        <a:srgbClr val="5C8A4E"/>
      </a:accent5>
      <a:accent6>
        <a:srgbClr val="D9A441"/>
      </a:accent6>
      <a:hlink>
        <a:srgbClr val="3E7C87"/>
      </a:hlink>
      <a:folHlink>
        <a:srgbClr val="6D5A8A"/>
      </a:folHlink>
    </a:clrScheme>
    <a:fontScheme name="Subsidence Review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ubsidence Review">
  <a:themeElements>
    <a:clrScheme name="Subsidence Review">
      <a:dk1>
        <a:srgbClr val="1E2A30"/>
      </a:dk1>
      <a:lt1>
        <a:srgbClr val="FFFFFF"/>
      </a:lt1>
      <a:dk2>
        <a:srgbClr val="23404A"/>
      </a:dk2>
      <a:lt2>
        <a:srgbClr val="EEF2F3"/>
      </a:lt2>
      <a:accent1>
        <a:srgbClr val="C8702E"/>
      </a:accent1>
      <a:accent2>
        <a:srgbClr val="3E7C87"/>
      </a:accent2>
      <a:accent3>
        <a:srgbClr val="8A9BA3"/>
      </a:accent3>
      <a:accent4>
        <a:srgbClr val="A9473A"/>
      </a:accent4>
      <a:accent5>
        <a:srgbClr val="5C8A4E"/>
      </a:accent5>
      <a:accent6>
        <a:srgbClr val="D9A441"/>
      </a:accent6>
      <a:hlink>
        <a:srgbClr val="3E7C87"/>
      </a:hlink>
      <a:folHlink>
        <a:srgbClr val="6D5A8A"/>
      </a:folHlink>
    </a:clrScheme>
    <a:fontScheme name="Subsidence Review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14711</Words>
  <Application>WPS 演示</Application>
  <PresentationFormat>On-screen Show (16:9)</PresentationFormat>
  <Paragraphs>1071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Subsidence Review</vt:lpstr>
      <vt:lpstr>地表沉降 InSAR 研究文献汇报</vt:lpstr>
      <vt:lpstr>12 篇论文总览</vt:lpstr>
      <vt:lpstr>一、华北平原地下水开采与沉降</vt:lpstr>
      <vt:lpstr>① 京津冀平原：TS-InSAR 重建聚类与地下水恢复响应</vt:lpstr>
      <vt:lpstr>① 京津冀平原：TS-InSAR 重建聚类与地下水恢复响应</vt:lpstr>
      <vt:lpstr>② 华北平原：宽域 InSAR 与地下水体积损失反演</vt:lpstr>
      <vt:lpstr>② 华北平原：宽域 InSAR 与地下水体积损失反演</vt:lpstr>
      <vt:lpstr>③ 华北平原：机器学习 InSAR 平差与承压水储量损失</vt:lpstr>
      <vt:lpstr>③ 华北平原：机器学习 InSAR 平差与承压水储量损失</vt:lpstr>
      <vt:lpstr>④ 鲁北平原：NMF 辅助 ICA 分解归因 + 深度学习预测</vt:lpstr>
      <vt:lpstr>④ 鲁北平原：NMF 辅助 ICA 分解归因 + 深度学习预测</vt:lpstr>
      <vt:lpstr>二、中国东部省域与沿海沉降</vt:lpstr>
      <vt:lpstr>⑤ 江苏全省：Sentinel-1 地面沉降监测与成因</vt:lpstr>
      <vt:lpstr>⑤ 江苏全省：Sentinel-1 地面沉降监测与成因</vt:lpstr>
      <vt:lpstr>⑥ 中国东部沿海（鲁、苏）：高分辨率沉降制图与驱动</vt:lpstr>
      <vt:lpstr>⑥ 中国东部沿海（鲁、苏）：高分辨率沉降制图与驱动</vt:lpstr>
      <vt:lpstr>三、国家与全球尺度沉降</vt:lpstr>
      <vt:lpstr>⑦ 美国本土：全国尺度 InSAR 沉降制图与特征</vt:lpstr>
      <vt:lpstr>⑦ 美国本土：全国尺度 InSAR 沉降制图与特征</vt:lpstr>
      <vt:lpstr>⑧ 伊朗全国：沉降揭示不可恢复的含水层耗竭</vt:lpstr>
      <vt:lpstr>⑧ 伊朗全国：沉降揭示不可恢复的含水层耗竭</vt:lpstr>
      <vt:lpstr>⑨ 爪哇岛：地面沉降及其对相对海平面的贡献</vt:lpstr>
      <vt:lpstr>⑨ 爪哇岛：地面沉降及其对相对海平面的贡献</vt:lpstr>
      <vt:lpstr>⑩ 全球 40 个河流三角洲沉降</vt:lpstr>
      <vt:lpstr>⑩ 全球 40 个河流三角洲沉降</vt:lpstr>
      <vt:lpstr>⑪ 湄公河三角洲：干旱诱发的地面沉降</vt:lpstr>
      <vt:lpstr>⑪ 湄公河三角洲：干旱诱发的地面沉降</vt:lpstr>
      <vt:lpstr>四、方法拓展：水库区滑坡</vt:lpstr>
      <vt:lpstr>⑫ 白鹤滩水库区：多几何 InSAR + 可解释 ML 圈定潜在滑坡</vt:lpstr>
      <vt:lpstr>⑫ 白鹤滩水库区：多几何 InSAR + 可解释 ML 圈定潜在滑坡</vt:lpstr>
      <vt:lpstr>横向对比：12 篇论文的共性</vt:lpstr>
      <vt:lpstr>谢谢 · 欢迎讨论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地表沉降 InSAR 文献组会汇报</dc:title>
  <dc:creator>PptxGenJS</dc:creator>
  <dc:subject>PptxGenJS Presentation</dc:subject>
  <cp:lastModifiedBy>WPS_1680842909</cp:lastModifiedBy>
  <cp:revision>2</cp:revision>
  <dcterms:created xsi:type="dcterms:W3CDTF">2026-10-15T02:24:00Z</dcterms:created>
  <dcterms:modified xsi:type="dcterms:W3CDTF">2026-10-15T05:32:10Z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DCC1E121DE494EC4881C285CA09CF9E3_12</vt:lpwstr>
  </property>
  <property fmtid="{D5CDD505-2E9C-101B-9397-08002B2CF9AE}" pid="3" name="KSOProductBuildVer">
    <vt:lpwstr>2052-12.1.0.28505</vt:lpwstr>
  </property>
</Properties>
</file>